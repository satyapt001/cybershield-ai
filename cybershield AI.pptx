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3" r:id="rId10"/>
    <p:sldId id="265" r:id="rId11"/>
    <p:sldId id="266" r:id="rId12"/>
  </p:sldIdLst>
  <p:sldSz cx="18288000" cy="10287000"/>
  <p:notesSz cx="6858000" cy="9144000"/>
  <p:embeddedFontLst>
    <p:embeddedFont>
      <p:font typeface="Anton" pitchFamily="2" charset="0"/>
      <p:regular r:id="rId14"/>
    </p:embeddedFont>
    <p:embeddedFont>
      <p:font typeface="Anton Italics" panose="020B0604020202020204" charset="0"/>
      <p:regular r:id="rId15"/>
    </p:embeddedFont>
    <p:embeddedFont>
      <p:font typeface="Calibri" panose="020F0502020204030204" pitchFamily="34" charset="0"/>
      <p:regular r:id="rId16"/>
      <p:bold r:id="rId17"/>
      <p:italic r:id="rId18"/>
      <p:boldItalic r:id="rId19"/>
    </p:embeddedFont>
    <p:embeddedFont>
      <p:font typeface="Open Sauce" panose="020B0604020202020204" charset="0"/>
      <p:regular r:id="rId20"/>
    </p:embeddedFont>
    <p:embeddedFont>
      <p:font typeface="Open Sauce Bold" panose="020B0604020202020204" charset="0"/>
      <p:regular r:id="rId21"/>
    </p:embeddedFont>
    <p:embeddedFont>
      <p:font typeface="Open Sauce Bold Italics" panose="020B0604020202020204" charset="0"/>
      <p:regular r:id="rId22"/>
    </p:embeddedFont>
    <p:embeddedFont>
      <p:font typeface="Open Sauce Italics"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8" d="100"/>
          <a:sy n="48" d="100"/>
        </p:scale>
        <p:origin x="636"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35892A-0974-483F-AC61-106789491FD4}" type="datetimeFigureOut">
              <a:rPr lang="en-IN" smtClean="0"/>
              <a:t>21-06-2026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F911F2-31EB-403D-BDA2-EE8FDB82057D}" type="slidenum">
              <a:rPr lang="en-IN" smtClean="0"/>
              <a:t>‹#›</a:t>
            </a:fld>
            <a:endParaRPr lang="en-IN"/>
          </a:p>
        </p:txBody>
      </p:sp>
    </p:spTree>
    <p:extLst>
      <p:ext uri="{BB962C8B-B14F-4D97-AF65-F5344CB8AC3E}">
        <p14:creationId xmlns:p14="http://schemas.microsoft.com/office/powerpoint/2010/main" val="725017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EF911F2-31EB-403D-BDA2-EE8FDB82057D}" type="slidenum">
              <a:rPr lang="en-IN" smtClean="0"/>
              <a:t>11</a:t>
            </a:fld>
            <a:endParaRPr lang="en-IN"/>
          </a:p>
        </p:txBody>
      </p:sp>
    </p:spTree>
    <p:extLst>
      <p:ext uri="{BB962C8B-B14F-4D97-AF65-F5344CB8AC3E}">
        <p14:creationId xmlns:p14="http://schemas.microsoft.com/office/powerpoint/2010/main" val="160707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cybershield-ai-8hvq.onrender.com/" TargetMode="External"/><Relationship Id="rId7" Type="http://schemas.openxmlformats.org/officeDocument/2006/relationships/hyperlink" Target="https://github.com/Satyapt001/CyberShieldAI"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17.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Freeform 2"/>
          <p:cNvSpPr/>
          <p:nvPr/>
        </p:nvSpPr>
        <p:spPr>
          <a:xfrm>
            <a:off x="12649200" y="8877300"/>
            <a:ext cx="4678058" cy="952515"/>
          </a:xfrm>
          <a:custGeom>
            <a:avLst/>
            <a:gdLst/>
            <a:ahLst/>
            <a:cxnLst/>
            <a:rect l="l" t="t" r="r" b="b"/>
            <a:pathLst>
              <a:path w="4678058" h="952515">
                <a:moveTo>
                  <a:pt x="0" y="0"/>
                </a:moveTo>
                <a:lnTo>
                  <a:pt x="4678058" y="0"/>
                </a:lnTo>
                <a:lnTo>
                  <a:pt x="4678058" y="952515"/>
                </a:lnTo>
                <a:lnTo>
                  <a:pt x="0" y="952515"/>
                </a:lnTo>
                <a:lnTo>
                  <a:pt x="0" y="0"/>
                </a:lnTo>
                <a:close/>
              </a:path>
            </a:pathLst>
          </a:custGeom>
          <a:blipFill>
            <a:blip r:embed="rId2"/>
            <a:stretch>
              <a:fillRect/>
            </a:stretch>
          </a:blipFill>
        </p:spPr>
      </p:sp>
      <p:sp>
        <p:nvSpPr>
          <p:cNvPr id="3" name="TextBox 3"/>
          <p:cNvSpPr txBox="1"/>
          <p:nvPr/>
        </p:nvSpPr>
        <p:spPr>
          <a:xfrm>
            <a:off x="838200" y="1106173"/>
            <a:ext cx="10764337" cy="1875949"/>
          </a:xfrm>
          <a:prstGeom prst="rect">
            <a:avLst/>
          </a:prstGeom>
        </p:spPr>
        <p:txBody>
          <a:bodyPr lIns="0" tIns="0" rIns="0" bIns="0" rtlCol="0" anchor="t">
            <a:spAutoFit/>
          </a:bodyPr>
          <a:lstStyle/>
          <a:p>
            <a:pPr algn="l">
              <a:lnSpc>
                <a:spcPts val="15251"/>
              </a:lnSpc>
              <a:spcBef>
                <a:spcPct val="0"/>
              </a:spcBef>
            </a:pPr>
            <a:r>
              <a:rPr lang="en-US" sz="10893" spc="-217" dirty="0">
                <a:solidFill>
                  <a:srgbClr val="EB2D2D"/>
                </a:solidFill>
                <a:latin typeface="Anton"/>
                <a:ea typeface="Anton"/>
                <a:cs typeface="Anton"/>
                <a:sym typeface="Anton"/>
              </a:rPr>
              <a:t>MALWARE</a:t>
            </a:r>
            <a:r>
              <a:rPr lang="en-US" sz="10893" spc="-217" dirty="0">
                <a:solidFill>
                  <a:srgbClr val="004AAD"/>
                </a:solidFill>
                <a:latin typeface="Anton"/>
                <a:ea typeface="Anton"/>
                <a:cs typeface="Anton"/>
                <a:sym typeface="Anton"/>
              </a:rPr>
              <a:t> DETECTION</a:t>
            </a:r>
          </a:p>
        </p:txBody>
      </p:sp>
      <p:sp>
        <p:nvSpPr>
          <p:cNvPr id="4" name="TextBox 4"/>
          <p:cNvSpPr txBox="1"/>
          <p:nvPr/>
        </p:nvSpPr>
        <p:spPr>
          <a:xfrm>
            <a:off x="838200" y="2518873"/>
            <a:ext cx="9653906" cy="1358903"/>
          </a:xfrm>
          <a:prstGeom prst="rect">
            <a:avLst/>
          </a:prstGeom>
        </p:spPr>
        <p:txBody>
          <a:bodyPr lIns="0" tIns="0" rIns="0" bIns="0" rtlCol="0" anchor="t">
            <a:spAutoFit/>
          </a:bodyPr>
          <a:lstStyle/>
          <a:p>
            <a:pPr algn="l">
              <a:lnSpc>
                <a:spcPts val="11199"/>
              </a:lnSpc>
              <a:spcBef>
                <a:spcPct val="0"/>
              </a:spcBef>
            </a:pPr>
            <a:r>
              <a:rPr lang="en-US" sz="7999" spc="-159" dirty="0">
                <a:solidFill>
                  <a:srgbClr val="004AAD"/>
                </a:solidFill>
                <a:latin typeface="Anton Italics"/>
                <a:ea typeface="Anton Italics"/>
                <a:cs typeface="Anton Italics"/>
                <a:sym typeface="Anton Italics"/>
              </a:rPr>
              <a:t>USING ML</a:t>
            </a:r>
          </a:p>
        </p:txBody>
      </p:sp>
      <p:sp>
        <p:nvSpPr>
          <p:cNvPr id="5" name="TextBox 5"/>
          <p:cNvSpPr txBox="1"/>
          <p:nvPr/>
        </p:nvSpPr>
        <p:spPr>
          <a:xfrm>
            <a:off x="7095755" y="7071277"/>
            <a:ext cx="4374155" cy="1171575"/>
          </a:xfrm>
          <a:prstGeom prst="rect">
            <a:avLst/>
          </a:prstGeom>
        </p:spPr>
        <p:txBody>
          <a:bodyPr lIns="0" tIns="0" rIns="0" bIns="0" rtlCol="0" anchor="t">
            <a:spAutoFit/>
          </a:bodyPr>
          <a:lstStyle/>
          <a:p>
            <a:pPr algn="l">
              <a:lnSpc>
                <a:spcPts val="3119"/>
              </a:lnSpc>
            </a:pPr>
            <a:r>
              <a:rPr lang="en-US" sz="2599" spc="-129" dirty="0">
                <a:solidFill>
                  <a:srgbClr val="004AAD"/>
                </a:solidFill>
                <a:latin typeface="Open Sauce"/>
                <a:ea typeface="Open Sauce"/>
                <a:cs typeface="Open Sauce"/>
                <a:sym typeface="Open Sauce"/>
              </a:rPr>
              <a:t>GUIDED BY</a:t>
            </a:r>
          </a:p>
          <a:p>
            <a:pPr algn="l">
              <a:lnSpc>
                <a:spcPts val="3119"/>
              </a:lnSpc>
            </a:pPr>
            <a:r>
              <a:rPr lang="en-US" sz="2599" spc="-129" dirty="0">
                <a:solidFill>
                  <a:srgbClr val="004AAD"/>
                </a:solidFill>
                <a:latin typeface="Open Sauce"/>
                <a:ea typeface="Open Sauce"/>
                <a:cs typeface="Open Sauce"/>
                <a:sym typeface="Open Sauce"/>
              </a:rPr>
              <a:t>Asst prof. Bibhudendu Panda</a:t>
            </a:r>
          </a:p>
          <a:p>
            <a:pPr algn="l">
              <a:lnSpc>
                <a:spcPts val="3119"/>
              </a:lnSpc>
            </a:pPr>
            <a:endParaRPr lang="en-US" sz="2599" spc="-129" dirty="0">
              <a:solidFill>
                <a:srgbClr val="004AAD"/>
              </a:solidFill>
              <a:latin typeface="Open Sauce"/>
              <a:ea typeface="Open Sauce"/>
              <a:cs typeface="Open Sauce"/>
              <a:sym typeface="Open Sauce"/>
            </a:endParaRPr>
          </a:p>
        </p:txBody>
      </p:sp>
      <p:sp>
        <p:nvSpPr>
          <p:cNvPr id="6" name="TextBox 6"/>
          <p:cNvSpPr txBox="1"/>
          <p:nvPr/>
        </p:nvSpPr>
        <p:spPr>
          <a:xfrm>
            <a:off x="1158123" y="6470257"/>
            <a:ext cx="3639164" cy="1616468"/>
          </a:xfrm>
          <a:prstGeom prst="rect">
            <a:avLst/>
          </a:prstGeom>
        </p:spPr>
        <p:txBody>
          <a:bodyPr wrap="square" lIns="0" tIns="0" rIns="0" bIns="0" rtlCol="0" anchor="t">
            <a:spAutoFit/>
          </a:bodyPr>
          <a:lstStyle/>
          <a:p>
            <a:pPr algn="l">
              <a:lnSpc>
                <a:spcPts val="3157"/>
              </a:lnSpc>
            </a:pPr>
            <a:r>
              <a:rPr lang="en-US" sz="2631" spc="-131" dirty="0">
                <a:solidFill>
                  <a:srgbClr val="004AAD"/>
                </a:solidFill>
                <a:latin typeface="Open Sauce"/>
                <a:ea typeface="Open Sauce"/>
                <a:cs typeface="Open Sauce"/>
                <a:sym typeface="Open Sauce"/>
              </a:rPr>
              <a:t>PRESENTED BY </a:t>
            </a:r>
          </a:p>
          <a:p>
            <a:pPr algn="l">
              <a:lnSpc>
                <a:spcPts val="3157"/>
              </a:lnSpc>
            </a:pPr>
            <a:r>
              <a:rPr lang="en-US" sz="2631" spc="-131" dirty="0">
                <a:solidFill>
                  <a:srgbClr val="004AAD"/>
                </a:solidFill>
                <a:latin typeface="Open Sauce"/>
                <a:ea typeface="Open Sauce"/>
                <a:cs typeface="Open Sauce"/>
                <a:sym typeface="Open Sauce"/>
              </a:rPr>
              <a:t>Satyapriya Tripathy</a:t>
            </a:r>
          </a:p>
          <a:p>
            <a:pPr algn="l">
              <a:lnSpc>
                <a:spcPts val="3157"/>
              </a:lnSpc>
            </a:pPr>
            <a:r>
              <a:rPr lang="en-US" sz="2631" spc="-131" dirty="0">
                <a:solidFill>
                  <a:srgbClr val="004AAD"/>
                </a:solidFill>
                <a:latin typeface="Open Sauce"/>
                <a:ea typeface="Open Sauce"/>
                <a:cs typeface="Open Sauce"/>
                <a:sym typeface="Open Sauce"/>
              </a:rPr>
              <a:t>Reg No - 2505260021</a:t>
            </a:r>
          </a:p>
          <a:p>
            <a:pPr algn="l">
              <a:lnSpc>
                <a:spcPts val="3157"/>
              </a:lnSpc>
            </a:pPr>
            <a:r>
              <a:rPr lang="en-US" sz="2631" spc="-131" dirty="0">
                <a:solidFill>
                  <a:srgbClr val="004AAD"/>
                </a:solidFill>
                <a:latin typeface="Open Sauce"/>
                <a:ea typeface="Open Sauce"/>
                <a:cs typeface="Open Sauce"/>
                <a:sym typeface="Open Sauce"/>
              </a:rPr>
              <a:t>MCA</a:t>
            </a:r>
          </a:p>
        </p:txBody>
      </p:sp>
      <p:grpSp>
        <p:nvGrpSpPr>
          <p:cNvPr id="7" name="Group 7"/>
          <p:cNvGrpSpPr/>
          <p:nvPr/>
        </p:nvGrpSpPr>
        <p:grpSpPr>
          <a:xfrm>
            <a:off x="12504345" y="716536"/>
            <a:ext cx="4945455" cy="6511294"/>
            <a:chOff x="0" y="0"/>
            <a:chExt cx="691118" cy="909941"/>
          </a:xfrm>
        </p:grpSpPr>
        <p:sp>
          <p:nvSpPr>
            <p:cNvPr id="8" name="Freeform 8"/>
            <p:cNvSpPr/>
            <p:nvPr/>
          </p:nvSpPr>
          <p:spPr>
            <a:xfrm>
              <a:off x="0" y="0"/>
              <a:ext cx="691118" cy="909941"/>
            </a:xfrm>
            <a:custGeom>
              <a:avLst/>
              <a:gdLst/>
              <a:ahLst/>
              <a:cxnLst/>
              <a:rect l="l" t="t" r="r" b="b"/>
              <a:pathLst>
                <a:path w="691118" h="909941">
                  <a:moveTo>
                    <a:pt x="0" y="0"/>
                  </a:moveTo>
                  <a:lnTo>
                    <a:pt x="691118" y="0"/>
                  </a:lnTo>
                  <a:lnTo>
                    <a:pt x="691118" y="909941"/>
                  </a:lnTo>
                  <a:lnTo>
                    <a:pt x="0" y="909941"/>
                  </a:lnTo>
                  <a:close/>
                </a:path>
              </a:pathLst>
            </a:custGeom>
            <a:blipFill>
              <a:blip r:embed="rId3"/>
              <a:stretch>
                <a:fillRect l="-15831" r="-15831"/>
              </a:stretch>
            </a:blipFill>
            <a:ln w="28575" cap="sq">
              <a:solidFill>
                <a:srgbClr val="004AAD"/>
              </a:solidFill>
              <a:prstDash val="solid"/>
              <a:miter/>
            </a:ln>
          </p:spPr>
        </p:sp>
      </p:grpSp>
      <p:pic>
        <p:nvPicPr>
          <p:cNvPr id="10" name="Picture 9">
            <a:extLst>
              <a:ext uri="{FF2B5EF4-FFF2-40B4-BE49-F238E27FC236}">
                <a16:creationId xmlns:a16="http://schemas.microsoft.com/office/drawing/2014/main" id="{0E1453DB-BC5D-0B79-F58F-76452CB875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895" y="9234452"/>
            <a:ext cx="3636705" cy="101444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sp>
        <p:nvSpPr>
          <p:cNvPr id="6" name="TextBox 6"/>
          <p:cNvSpPr txBox="1"/>
          <p:nvPr/>
        </p:nvSpPr>
        <p:spPr>
          <a:xfrm>
            <a:off x="800092" y="1536809"/>
            <a:ext cx="10070271" cy="3585947"/>
          </a:xfrm>
          <a:prstGeom prst="rect">
            <a:avLst/>
          </a:prstGeom>
        </p:spPr>
        <p:txBody>
          <a:bodyPr lIns="0" tIns="0" rIns="0" bIns="0" rtlCol="0" anchor="t">
            <a:spAutoFit/>
          </a:bodyPr>
          <a:lstStyle/>
          <a:p>
            <a:pPr algn="l">
              <a:lnSpc>
                <a:spcPts val="13752"/>
              </a:lnSpc>
            </a:pPr>
            <a:r>
              <a:rPr lang="en-US" sz="14177" spc="-283" dirty="0">
                <a:solidFill>
                  <a:srgbClr val="F0F0F0"/>
                </a:solidFill>
                <a:latin typeface="Anton"/>
                <a:ea typeface="Anton"/>
                <a:cs typeface="Anton"/>
                <a:sym typeface="Anton"/>
              </a:rPr>
              <a:t>PROBLEM STATEMENT</a:t>
            </a:r>
          </a:p>
        </p:txBody>
      </p:sp>
      <p:sp>
        <p:nvSpPr>
          <p:cNvPr id="7" name="TextBox 7"/>
          <p:cNvSpPr txBox="1"/>
          <p:nvPr/>
        </p:nvSpPr>
        <p:spPr>
          <a:xfrm>
            <a:off x="702365" y="7347997"/>
            <a:ext cx="9525000" cy="2154436"/>
          </a:xfrm>
          <a:prstGeom prst="rect">
            <a:avLst/>
          </a:prstGeom>
        </p:spPr>
        <p:txBody>
          <a:bodyPr wrap="square" lIns="0" tIns="0" rIns="0" bIns="0" rtlCol="0" anchor="t">
            <a:spAutoFit/>
          </a:bodyPr>
          <a:lstStyle/>
          <a:p>
            <a:pPr algn="l"/>
            <a:r>
              <a:rPr lang="en-US" sz="2228" spc="-44" dirty="0">
                <a:solidFill>
                  <a:srgbClr val="F0F0F0"/>
                </a:solidFill>
                <a:latin typeface="Open Sauce"/>
                <a:ea typeface="Open Sauce"/>
                <a:cs typeface="Open Sauce"/>
                <a:sym typeface="Open Sauce"/>
              </a:rPr>
              <a:t>• </a:t>
            </a:r>
            <a:r>
              <a:rPr lang="en-US" sz="2800" spc="-44" dirty="0">
                <a:solidFill>
                  <a:srgbClr val="F0F0F0"/>
                </a:solidFill>
                <a:latin typeface="Open Sauce"/>
                <a:ea typeface="Open Sauce"/>
                <a:cs typeface="Open Sauce"/>
                <a:sym typeface="Open Sauce"/>
              </a:rPr>
              <a:t>Millions of phishing and spam emails are sent daily.</a:t>
            </a:r>
          </a:p>
          <a:p>
            <a:pPr algn="l"/>
            <a:r>
              <a:rPr lang="en-US" sz="2800" spc="-44" dirty="0">
                <a:solidFill>
                  <a:srgbClr val="F0F0F0"/>
                </a:solidFill>
                <a:latin typeface="Open Sauce"/>
                <a:ea typeface="Open Sauce"/>
                <a:cs typeface="Open Sauce"/>
                <a:sym typeface="Open Sauce"/>
              </a:rPr>
              <a:t>• Users often click malicious links unknowingly.</a:t>
            </a:r>
          </a:p>
          <a:p>
            <a:pPr algn="l"/>
            <a:r>
              <a:rPr lang="en-US" sz="2800" spc="-44" dirty="0">
                <a:solidFill>
                  <a:srgbClr val="F0F0F0"/>
                </a:solidFill>
                <a:latin typeface="Open Sauce"/>
                <a:ea typeface="Open Sauce"/>
                <a:cs typeface="Open Sauce"/>
                <a:sym typeface="Open Sauce"/>
              </a:rPr>
              <a:t>• Traditional filtering systems fail to explain threats.</a:t>
            </a:r>
          </a:p>
          <a:p>
            <a:pPr algn="l"/>
            <a:r>
              <a:rPr lang="en-US" sz="2800" spc="-44" dirty="0">
                <a:solidFill>
                  <a:srgbClr val="F0F0F0"/>
                </a:solidFill>
                <a:latin typeface="Open Sauce"/>
                <a:ea typeface="Open Sauce"/>
                <a:cs typeface="Open Sauce"/>
                <a:sym typeface="Open Sauce"/>
              </a:rPr>
              <a:t>• Small organizations lack affordable threat detection systems</a:t>
            </a:r>
            <a:r>
              <a:rPr lang="en-US" sz="2228" spc="-44" dirty="0">
                <a:solidFill>
                  <a:srgbClr val="F0F0F0"/>
                </a:solidFill>
                <a:latin typeface="Open Sauce"/>
                <a:ea typeface="Open Sauce"/>
                <a:cs typeface="Open Sauce"/>
                <a:sym typeface="Open Sauce"/>
              </a:rPr>
              <a:t>.</a:t>
            </a:r>
          </a:p>
        </p:txBody>
      </p:sp>
      <p:sp>
        <p:nvSpPr>
          <p:cNvPr id="8" name="TextBox 8"/>
          <p:cNvSpPr txBox="1"/>
          <p:nvPr/>
        </p:nvSpPr>
        <p:spPr>
          <a:xfrm>
            <a:off x="702365" y="6271475"/>
            <a:ext cx="6690684" cy="447675"/>
          </a:xfrm>
          <a:prstGeom prst="rect">
            <a:avLst/>
          </a:prstGeom>
        </p:spPr>
        <p:txBody>
          <a:bodyPr lIns="0" tIns="0" rIns="0" bIns="0" rtlCol="0" anchor="t">
            <a:spAutoFit/>
          </a:bodyPr>
          <a:lstStyle/>
          <a:p>
            <a:pPr algn="l">
              <a:lnSpc>
                <a:spcPts val="3479"/>
              </a:lnSpc>
            </a:pPr>
            <a:r>
              <a:rPr lang="en-US" sz="3600" b="1" spc="-144" dirty="0">
                <a:solidFill>
                  <a:srgbClr val="F0F0F0"/>
                </a:solidFill>
                <a:latin typeface="Open Sauce"/>
                <a:ea typeface="Open Sauce"/>
                <a:cs typeface="Open Sauce"/>
                <a:sym typeface="Open Sauce"/>
              </a:rPr>
              <a:t>EXISTING PROBLEM</a:t>
            </a:r>
          </a:p>
        </p:txBody>
      </p:sp>
      <p:sp>
        <p:nvSpPr>
          <p:cNvPr id="9" name="TextBox 9"/>
          <p:cNvSpPr txBox="1"/>
          <p:nvPr/>
        </p:nvSpPr>
        <p:spPr>
          <a:xfrm>
            <a:off x="10515600" y="7286442"/>
            <a:ext cx="6696488" cy="2215991"/>
          </a:xfrm>
          <a:prstGeom prst="rect">
            <a:avLst/>
          </a:prstGeom>
        </p:spPr>
        <p:txBody>
          <a:bodyPr lIns="0" tIns="0" rIns="0" bIns="0" rtlCol="0" anchor="t">
            <a:spAutoFit/>
          </a:bodyPr>
          <a:lstStyle/>
          <a:p>
            <a:pPr algn="l"/>
            <a:r>
              <a:rPr lang="en-US" sz="2400" spc="-42" dirty="0">
                <a:solidFill>
                  <a:srgbClr val="F0F0F0"/>
                </a:solidFill>
                <a:latin typeface="Open Sauce "/>
                <a:ea typeface="Open Sauce Bold"/>
                <a:cs typeface="Open Sauce Bold"/>
                <a:sym typeface="Open Sauce Bold"/>
              </a:rPr>
              <a:t>Develop an AI-powered system capable of:</a:t>
            </a:r>
          </a:p>
          <a:p>
            <a:pPr marL="453390" lvl="1" indent="-226695" algn="l">
              <a:buFont typeface="Arial"/>
              <a:buChar char="•"/>
            </a:pPr>
            <a:r>
              <a:rPr lang="en-US" sz="2400" spc="-42" dirty="0">
                <a:solidFill>
                  <a:srgbClr val="F0F0F0"/>
                </a:solidFill>
                <a:latin typeface="Open Sauce "/>
                <a:ea typeface="Open Sauce Bold"/>
                <a:cs typeface="Open Sauce Bold"/>
                <a:sym typeface="Open Sauce Bold"/>
              </a:rPr>
              <a:t>Spam Detection</a:t>
            </a:r>
          </a:p>
          <a:p>
            <a:pPr marL="453390" lvl="1" indent="-226695" algn="l">
              <a:buFont typeface="Arial"/>
              <a:buChar char="•"/>
            </a:pPr>
            <a:r>
              <a:rPr lang="en-US" sz="2400" spc="-42" dirty="0">
                <a:solidFill>
                  <a:srgbClr val="F0F0F0"/>
                </a:solidFill>
                <a:latin typeface="Open Sauce "/>
                <a:ea typeface="Open Sauce Bold"/>
                <a:cs typeface="Open Sauce Bold"/>
                <a:sym typeface="Open Sauce Bold"/>
              </a:rPr>
              <a:t>Phishing Detection</a:t>
            </a:r>
          </a:p>
          <a:p>
            <a:pPr marL="453390" lvl="1" indent="-226695" algn="l">
              <a:buFont typeface="Arial"/>
              <a:buChar char="•"/>
            </a:pPr>
            <a:r>
              <a:rPr lang="en-US" sz="2400" spc="-42" dirty="0">
                <a:solidFill>
                  <a:srgbClr val="F0F0F0"/>
                </a:solidFill>
                <a:latin typeface="Open Sauce "/>
                <a:ea typeface="Open Sauce Bold"/>
                <a:cs typeface="Open Sauce Bold"/>
                <a:sym typeface="Open Sauce Bold"/>
              </a:rPr>
              <a:t>URL Analysis</a:t>
            </a:r>
          </a:p>
          <a:p>
            <a:pPr marL="453390" lvl="1" indent="-226695" algn="l">
              <a:buFont typeface="Arial"/>
              <a:buChar char="•"/>
            </a:pPr>
            <a:r>
              <a:rPr lang="en-US" sz="2400" spc="-42" dirty="0">
                <a:solidFill>
                  <a:srgbClr val="F0F0F0"/>
                </a:solidFill>
                <a:latin typeface="Open Sauce "/>
                <a:ea typeface="Open Sauce Bold"/>
                <a:cs typeface="Open Sauce Bold"/>
                <a:sym typeface="Open Sauce Bold"/>
              </a:rPr>
              <a:t>Threat Classification</a:t>
            </a:r>
          </a:p>
          <a:p>
            <a:pPr marL="453390" lvl="1" indent="-226695" algn="l">
              <a:buFont typeface="Arial"/>
              <a:buChar char="•"/>
            </a:pPr>
            <a:r>
              <a:rPr lang="en-US" sz="2400" spc="-42" dirty="0">
                <a:solidFill>
                  <a:srgbClr val="F0F0F0"/>
                </a:solidFill>
                <a:latin typeface="Open Sauce "/>
                <a:ea typeface="Open Sauce Bold"/>
                <a:cs typeface="Open Sauce Bold"/>
                <a:sym typeface="Open Sauce Bold"/>
              </a:rPr>
              <a:t>Explainable Security Insights</a:t>
            </a:r>
          </a:p>
        </p:txBody>
      </p:sp>
      <p:sp>
        <p:nvSpPr>
          <p:cNvPr id="10" name="TextBox 10"/>
          <p:cNvSpPr txBox="1"/>
          <p:nvPr/>
        </p:nvSpPr>
        <p:spPr>
          <a:xfrm>
            <a:off x="10528030" y="6444443"/>
            <a:ext cx="6690684" cy="448841"/>
          </a:xfrm>
          <a:prstGeom prst="rect">
            <a:avLst/>
          </a:prstGeom>
        </p:spPr>
        <p:txBody>
          <a:bodyPr lIns="0" tIns="0" rIns="0" bIns="0" rtlCol="0" anchor="t">
            <a:spAutoFit/>
          </a:bodyPr>
          <a:lstStyle/>
          <a:p>
            <a:pPr algn="l">
              <a:lnSpc>
                <a:spcPts val="3479"/>
              </a:lnSpc>
            </a:pPr>
            <a:r>
              <a:rPr lang="en-US" sz="3600" b="1" spc="-144" dirty="0">
                <a:solidFill>
                  <a:srgbClr val="F0F0F0"/>
                </a:solidFill>
                <a:latin typeface="Open Sauce"/>
                <a:ea typeface="Open Sauce"/>
                <a:cs typeface="Open Sauce"/>
                <a:sym typeface="Open Sauce"/>
              </a:rPr>
              <a:t>OBJECTIVE</a:t>
            </a:r>
          </a:p>
        </p:txBody>
      </p:sp>
      <p:pic>
        <p:nvPicPr>
          <p:cNvPr id="12" name="Picture 11">
            <a:extLst>
              <a:ext uri="{FF2B5EF4-FFF2-40B4-BE49-F238E27FC236}">
                <a16:creationId xmlns:a16="http://schemas.microsoft.com/office/drawing/2014/main" id="{55A400AE-FD84-74CC-147F-2006D6DA0699}"/>
              </a:ext>
            </a:extLst>
          </p:cNvPr>
          <p:cNvPicPr>
            <a:picLocks noChangeAspect="1"/>
          </p:cNvPicPr>
          <p:nvPr/>
        </p:nvPicPr>
        <p:blipFill>
          <a:blip r:embed="rId2">
            <a:extLst>
              <a:ext uri="{BEBA8EAE-BF5A-486C-A8C5-ECC9F3942E4B}">
                <a14:imgProps xmlns:a14="http://schemas.microsoft.com/office/drawing/2010/main">
                  <a14:imgLayer r:embed="rId3">
                    <a14:imgEffect>
                      <a14:saturation sat="200000"/>
                    </a14:imgEffect>
                  </a14:imgLayer>
                </a14:imgProps>
              </a:ext>
              <a:ext uri="{28A0092B-C50C-407E-A947-70E740481C1C}">
                <a14:useLocalDpi xmlns:a14="http://schemas.microsoft.com/office/drawing/2010/main" val="0"/>
              </a:ext>
            </a:extLst>
          </a:blip>
          <a:stretch>
            <a:fillRect/>
          </a:stretch>
        </p:blipFill>
        <p:spPr>
          <a:xfrm>
            <a:off x="8610600" y="647700"/>
            <a:ext cx="9104815" cy="5442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9EBFBB61-78BB-D01A-F104-E666D0E818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49313" y="419100"/>
            <a:ext cx="14638687" cy="7814340"/>
          </a:xfrm>
          <a:prstGeom prst="rect">
            <a:avLst/>
          </a:prstGeom>
        </p:spPr>
      </p:pic>
      <p:sp>
        <p:nvSpPr>
          <p:cNvPr id="6" name="TextBox 6"/>
          <p:cNvSpPr txBox="1"/>
          <p:nvPr/>
        </p:nvSpPr>
        <p:spPr>
          <a:xfrm>
            <a:off x="685800" y="7904995"/>
            <a:ext cx="6689767" cy="2382005"/>
          </a:xfrm>
          <a:prstGeom prst="rect">
            <a:avLst/>
          </a:prstGeom>
        </p:spPr>
        <p:txBody>
          <a:bodyPr lIns="0" tIns="0" rIns="0" bIns="0" rtlCol="0" anchor="t">
            <a:spAutoFit/>
          </a:bodyPr>
          <a:lstStyle/>
          <a:p>
            <a:pPr marL="0" lvl="0" indent="0" algn="l">
              <a:lnSpc>
                <a:spcPts val="9113"/>
              </a:lnSpc>
              <a:spcBef>
                <a:spcPct val="0"/>
              </a:spcBef>
            </a:pPr>
            <a:r>
              <a:rPr lang="en-US" sz="9395" spc="-187" dirty="0">
                <a:solidFill>
                  <a:srgbClr val="004AAD"/>
                </a:solidFill>
                <a:latin typeface="Anton"/>
                <a:ea typeface="Anton"/>
                <a:cs typeface="Anton"/>
                <a:sym typeface="Anton"/>
              </a:rPr>
              <a:t>SYSTE</a:t>
            </a:r>
            <a:r>
              <a:rPr lang="en-US" sz="9395" u="none" strike="noStrike" spc="-187" dirty="0">
                <a:solidFill>
                  <a:srgbClr val="004AAD"/>
                </a:solidFill>
                <a:latin typeface="Anton"/>
                <a:ea typeface="Anton"/>
                <a:cs typeface="Anton"/>
                <a:sym typeface="Anton"/>
              </a:rPr>
              <a:t>M ARCHITECTURE</a:t>
            </a:r>
          </a:p>
        </p:txBody>
      </p:sp>
      <p:pic>
        <p:nvPicPr>
          <p:cNvPr id="2" name="Picture 1">
            <a:extLst>
              <a:ext uri="{FF2B5EF4-FFF2-40B4-BE49-F238E27FC236}">
                <a16:creationId xmlns:a16="http://schemas.microsoft.com/office/drawing/2014/main" id="{D50A29A5-C53F-04C8-CBB4-4C5397AD38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78000" y="8874637"/>
            <a:ext cx="2781300" cy="77583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sp>
        <p:nvSpPr>
          <p:cNvPr id="4" name="TextBox 4"/>
          <p:cNvSpPr txBox="1"/>
          <p:nvPr/>
        </p:nvSpPr>
        <p:spPr>
          <a:xfrm>
            <a:off x="9601200" y="8709686"/>
            <a:ext cx="12777420" cy="1347357"/>
          </a:xfrm>
          <a:prstGeom prst="rect">
            <a:avLst/>
          </a:prstGeom>
        </p:spPr>
        <p:txBody>
          <a:bodyPr wrap="square" lIns="0" tIns="0" rIns="0" bIns="0" rtlCol="0" anchor="t">
            <a:spAutoFit/>
          </a:bodyPr>
          <a:lstStyle/>
          <a:p>
            <a:pPr marL="0" lvl="0" indent="0" algn="l">
              <a:lnSpc>
                <a:spcPts val="11663"/>
              </a:lnSpc>
              <a:spcBef>
                <a:spcPct val="0"/>
              </a:spcBef>
            </a:pPr>
            <a:r>
              <a:rPr lang="en-US" sz="6600" spc="-240" dirty="0">
                <a:solidFill>
                  <a:srgbClr val="F0F0F0"/>
                </a:solidFill>
                <a:latin typeface="Anton"/>
                <a:ea typeface="Anton"/>
                <a:cs typeface="Anton"/>
                <a:sym typeface="Anton"/>
              </a:rPr>
              <a:t>DA</a:t>
            </a:r>
            <a:r>
              <a:rPr lang="en-US" sz="6600" u="none" strike="noStrike" spc="-240" dirty="0">
                <a:solidFill>
                  <a:srgbClr val="F0F0F0"/>
                </a:solidFill>
                <a:latin typeface="Anton"/>
                <a:ea typeface="Anton"/>
                <a:cs typeface="Anton"/>
                <a:sym typeface="Anton"/>
              </a:rPr>
              <a:t>TASET &amp; DATA COLLECTION</a:t>
            </a:r>
          </a:p>
        </p:txBody>
      </p:sp>
      <p:sp>
        <p:nvSpPr>
          <p:cNvPr id="5" name="TextBox 5"/>
          <p:cNvSpPr txBox="1"/>
          <p:nvPr/>
        </p:nvSpPr>
        <p:spPr>
          <a:xfrm>
            <a:off x="14630400" y="632644"/>
            <a:ext cx="3557237" cy="243656"/>
          </a:xfrm>
          <a:prstGeom prst="rect">
            <a:avLst/>
          </a:prstGeom>
        </p:spPr>
        <p:txBody>
          <a:bodyPr lIns="0" tIns="0" rIns="0" bIns="0" rtlCol="0" anchor="t">
            <a:spAutoFit/>
          </a:bodyPr>
          <a:lstStyle/>
          <a:p>
            <a:pPr algn="l">
              <a:lnSpc>
                <a:spcPts val="1920"/>
              </a:lnSpc>
            </a:pPr>
            <a:r>
              <a:rPr lang="en-US" sz="1600" b="1" i="1" spc="-32" dirty="0">
                <a:solidFill>
                  <a:srgbClr val="F0F0F0"/>
                </a:solidFill>
                <a:latin typeface="Open Sauce Bold Italics"/>
                <a:ea typeface="Open Sauce Bold Italics"/>
                <a:cs typeface="Open Sauce Bold Italics"/>
                <a:sym typeface="Open Sauce Bold Italics"/>
              </a:rPr>
              <a:t>Spam.csv</a:t>
            </a:r>
          </a:p>
        </p:txBody>
      </p:sp>
      <p:sp>
        <p:nvSpPr>
          <p:cNvPr id="7" name="TextBox 7"/>
          <p:cNvSpPr txBox="1"/>
          <p:nvPr/>
        </p:nvSpPr>
        <p:spPr>
          <a:xfrm>
            <a:off x="14597954" y="903635"/>
            <a:ext cx="3557237" cy="3411190"/>
          </a:xfrm>
          <a:prstGeom prst="rect">
            <a:avLst/>
          </a:prstGeom>
        </p:spPr>
        <p:txBody>
          <a:bodyPr lIns="0" tIns="0" rIns="0" bIns="0" rtlCol="0" anchor="t">
            <a:spAutoFit/>
          </a:bodyPr>
          <a:lstStyle/>
          <a:p>
            <a:pPr algn="l">
              <a:lnSpc>
                <a:spcPts val="1920"/>
              </a:lnSpc>
            </a:pPr>
            <a:r>
              <a:rPr lang="en-US" sz="1600" spc="-32" dirty="0">
                <a:solidFill>
                  <a:srgbClr val="F0F0F0"/>
                </a:solidFill>
                <a:latin typeface="Open Sauce"/>
                <a:ea typeface="Open Sauce"/>
                <a:cs typeface="Open Sauce"/>
                <a:sym typeface="Open Sauce"/>
              </a:rPr>
              <a:t>The Spam Dataset consists of labeled email and SMS messages used to train the spam detection model.</a:t>
            </a:r>
          </a:p>
          <a:p>
            <a:pPr algn="l">
              <a:lnSpc>
                <a:spcPts val="1920"/>
              </a:lnSpc>
            </a:pPr>
            <a:endParaRPr lang="en-US" sz="1600" spc="-32" dirty="0">
              <a:solidFill>
                <a:srgbClr val="F0F0F0"/>
              </a:solidFill>
              <a:latin typeface="Open Sauce"/>
              <a:ea typeface="Open Sauce"/>
              <a:cs typeface="Open Sauce"/>
              <a:sym typeface="Open Sauce"/>
            </a:endParaRPr>
          </a:p>
          <a:p>
            <a:pPr algn="l">
              <a:lnSpc>
                <a:spcPts val="1920"/>
              </a:lnSpc>
            </a:pPr>
            <a:r>
              <a:rPr lang="en-US" sz="1600" spc="-32" dirty="0">
                <a:solidFill>
                  <a:srgbClr val="F0F0F0"/>
                </a:solidFill>
                <a:latin typeface="Open Sauce"/>
                <a:ea typeface="Open Sauce"/>
                <a:cs typeface="Open Sauce"/>
                <a:sym typeface="Open Sauce"/>
              </a:rPr>
              <a:t>Email Type:</a:t>
            </a:r>
          </a:p>
          <a:p>
            <a:pPr algn="l">
              <a:lnSpc>
                <a:spcPts val="1920"/>
              </a:lnSpc>
            </a:pPr>
            <a:r>
              <a:rPr lang="en-US" sz="1600" spc="-32" dirty="0">
                <a:solidFill>
                  <a:srgbClr val="F0F0F0"/>
                </a:solidFill>
                <a:latin typeface="Open Sauce"/>
                <a:ea typeface="Open Sauce"/>
                <a:cs typeface="Open Sauce"/>
                <a:sym typeface="Open Sauce"/>
              </a:rPr>
              <a:t>• 0 → Safe (Legitimate Message)</a:t>
            </a:r>
          </a:p>
          <a:p>
            <a:pPr algn="l">
              <a:lnSpc>
                <a:spcPts val="1920"/>
              </a:lnSpc>
            </a:pPr>
            <a:r>
              <a:rPr lang="en-US" sz="1600" spc="-32" dirty="0">
                <a:solidFill>
                  <a:srgbClr val="F0F0F0"/>
                </a:solidFill>
                <a:latin typeface="Open Sauce"/>
                <a:ea typeface="Open Sauce"/>
                <a:cs typeface="Open Sauce"/>
                <a:sym typeface="Open Sauce"/>
              </a:rPr>
              <a:t>• 1 → Spam (Unwanted or Promotional Message)</a:t>
            </a:r>
          </a:p>
          <a:p>
            <a:pPr algn="l">
              <a:lnSpc>
                <a:spcPts val="1920"/>
              </a:lnSpc>
            </a:pPr>
            <a:endParaRPr lang="en-US" sz="1600" spc="-32" dirty="0">
              <a:solidFill>
                <a:srgbClr val="F0F0F0"/>
              </a:solidFill>
              <a:latin typeface="Open Sauce"/>
              <a:ea typeface="Open Sauce"/>
              <a:cs typeface="Open Sauce"/>
              <a:sym typeface="Open Sauce"/>
            </a:endParaRPr>
          </a:p>
          <a:p>
            <a:pPr algn="l">
              <a:lnSpc>
                <a:spcPts val="1920"/>
              </a:lnSpc>
            </a:pPr>
            <a:r>
              <a:rPr lang="en-US" sz="1600" spc="-32" dirty="0">
                <a:solidFill>
                  <a:srgbClr val="F0F0F0"/>
                </a:solidFill>
                <a:latin typeface="Open Sauce"/>
                <a:ea typeface="Open Sauce"/>
                <a:cs typeface="Open Sauce"/>
                <a:sym typeface="Open Sauce"/>
              </a:rPr>
              <a:t>Email Text:</a:t>
            </a:r>
          </a:p>
          <a:p>
            <a:pPr algn="l">
              <a:lnSpc>
                <a:spcPts val="1920"/>
              </a:lnSpc>
            </a:pPr>
            <a:r>
              <a:rPr lang="en-US" sz="1600" spc="-32" dirty="0">
                <a:solidFill>
                  <a:srgbClr val="F0F0F0"/>
                </a:solidFill>
                <a:latin typeface="Open Sauce"/>
                <a:ea typeface="Open Sauce"/>
                <a:cs typeface="Open Sauce"/>
                <a:sym typeface="Open Sauce"/>
              </a:rPr>
              <a:t>• The actual content of the message used as input for machine learning training and classification.</a:t>
            </a:r>
          </a:p>
        </p:txBody>
      </p:sp>
      <p:sp>
        <p:nvSpPr>
          <p:cNvPr id="10" name="TextBox 10"/>
          <p:cNvSpPr txBox="1"/>
          <p:nvPr/>
        </p:nvSpPr>
        <p:spPr>
          <a:xfrm>
            <a:off x="5743611" y="682968"/>
            <a:ext cx="3557237" cy="243656"/>
          </a:xfrm>
          <a:prstGeom prst="rect">
            <a:avLst/>
          </a:prstGeom>
        </p:spPr>
        <p:txBody>
          <a:bodyPr lIns="0" tIns="0" rIns="0" bIns="0" rtlCol="0" anchor="t">
            <a:spAutoFit/>
          </a:bodyPr>
          <a:lstStyle/>
          <a:p>
            <a:pPr algn="l">
              <a:lnSpc>
                <a:spcPts val="1920"/>
              </a:lnSpc>
            </a:pPr>
            <a:r>
              <a:rPr lang="en-US" sz="1600" b="1" i="1" spc="-32" dirty="0">
                <a:solidFill>
                  <a:srgbClr val="F0F0F0"/>
                </a:solidFill>
                <a:latin typeface="Open Sauce Bold Italics"/>
                <a:ea typeface="Open Sauce Bold Italics"/>
                <a:cs typeface="Open Sauce Bold Italics"/>
                <a:sym typeface="Open Sauce Bold Italics"/>
              </a:rPr>
              <a:t>Phising.csv</a:t>
            </a:r>
          </a:p>
        </p:txBody>
      </p:sp>
      <p:pic>
        <p:nvPicPr>
          <p:cNvPr id="22" name="Picture 21">
            <a:extLst>
              <a:ext uri="{FF2B5EF4-FFF2-40B4-BE49-F238E27FC236}">
                <a16:creationId xmlns:a16="http://schemas.microsoft.com/office/drawing/2014/main" id="{2EC777CD-1995-3A28-480F-385DD78B61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504825"/>
            <a:ext cx="5073692" cy="5638800"/>
          </a:xfrm>
          <a:prstGeom prst="rect">
            <a:avLst/>
          </a:prstGeom>
        </p:spPr>
      </p:pic>
      <p:pic>
        <p:nvPicPr>
          <p:cNvPr id="24" name="Picture 23">
            <a:extLst>
              <a:ext uri="{FF2B5EF4-FFF2-40B4-BE49-F238E27FC236}">
                <a16:creationId xmlns:a16="http://schemas.microsoft.com/office/drawing/2014/main" id="{708DB873-FD08-EBF6-F0E2-74997F6A4A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3193" y="4521443"/>
            <a:ext cx="4861784" cy="4341743"/>
          </a:xfrm>
          <a:prstGeom prst="rect">
            <a:avLst/>
          </a:prstGeom>
        </p:spPr>
      </p:pic>
      <p:pic>
        <p:nvPicPr>
          <p:cNvPr id="28" name="Picture 27">
            <a:extLst>
              <a:ext uri="{FF2B5EF4-FFF2-40B4-BE49-F238E27FC236}">
                <a16:creationId xmlns:a16="http://schemas.microsoft.com/office/drawing/2014/main" id="{29319F5F-D591-9BDE-9659-179A9372DD9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56244" y="336534"/>
            <a:ext cx="5245556" cy="5807091"/>
          </a:xfrm>
          <a:prstGeom prst="rect">
            <a:avLst/>
          </a:prstGeom>
        </p:spPr>
      </p:pic>
      <p:pic>
        <p:nvPicPr>
          <p:cNvPr id="26" name="Picture 25">
            <a:extLst>
              <a:ext uri="{FF2B5EF4-FFF2-40B4-BE49-F238E27FC236}">
                <a16:creationId xmlns:a16="http://schemas.microsoft.com/office/drawing/2014/main" id="{705E0A1C-6D5B-2ED1-E88F-BB349F7AE65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909635" y="4314825"/>
            <a:ext cx="4869033" cy="3724275"/>
          </a:xfrm>
          <a:prstGeom prst="rect">
            <a:avLst/>
          </a:prstGeom>
        </p:spPr>
      </p:pic>
      <p:sp>
        <p:nvSpPr>
          <p:cNvPr id="36" name="TextBox 35">
            <a:extLst>
              <a:ext uri="{FF2B5EF4-FFF2-40B4-BE49-F238E27FC236}">
                <a16:creationId xmlns:a16="http://schemas.microsoft.com/office/drawing/2014/main" id="{7A74F3EC-02D1-FA0B-4DB1-891AC20871A2}"/>
              </a:ext>
            </a:extLst>
          </p:cNvPr>
          <p:cNvSpPr txBox="1"/>
          <p:nvPr/>
        </p:nvSpPr>
        <p:spPr>
          <a:xfrm>
            <a:off x="5598764" y="926624"/>
            <a:ext cx="3529364" cy="3259867"/>
          </a:xfrm>
          <a:prstGeom prst="rect">
            <a:avLst/>
          </a:prstGeom>
          <a:noFill/>
        </p:spPr>
        <p:txBody>
          <a:bodyPr wrap="square">
            <a:spAutoFit/>
          </a:bodyPr>
          <a:lstStyle/>
          <a:p>
            <a:pPr algn="l">
              <a:lnSpc>
                <a:spcPts val="1920"/>
              </a:lnSpc>
            </a:pPr>
            <a:r>
              <a:rPr lang="en-US" sz="1600" spc="-32" dirty="0">
                <a:solidFill>
                  <a:srgbClr val="F0F0F0"/>
                </a:solidFill>
                <a:latin typeface="Open Sauce"/>
                <a:ea typeface="Open Sauce"/>
                <a:cs typeface="Open Sauce"/>
                <a:sym typeface="Open Sauce"/>
              </a:rPr>
              <a:t>The Phishing Dataset contains labeled email samples used to train the phishing detection model.</a:t>
            </a:r>
          </a:p>
          <a:p>
            <a:pPr algn="l">
              <a:lnSpc>
                <a:spcPts val="1920"/>
              </a:lnSpc>
            </a:pPr>
            <a:endParaRPr lang="en-US" sz="1600" spc="-32" dirty="0">
              <a:solidFill>
                <a:srgbClr val="F0F0F0"/>
              </a:solidFill>
              <a:latin typeface="Open Sauce"/>
              <a:ea typeface="Open Sauce"/>
              <a:cs typeface="Open Sauce"/>
              <a:sym typeface="Open Sauce"/>
            </a:endParaRPr>
          </a:p>
          <a:p>
            <a:pPr algn="l">
              <a:lnSpc>
                <a:spcPts val="1920"/>
              </a:lnSpc>
            </a:pPr>
            <a:r>
              <a:rPr lang="en-US" sz="1600" spc="-32" dirty="0">
                <a:solidFill>
                  <a:srgbClr val="F0F0F0"/>
                </a:solidFill>
                <a:latin typeface="Open Sauce"/>
                <a:ea typeface="Open Sauce"/>
                <a:cs typeface="Open Sauce"/>
                <a:sym typeface="Open Sauce"/>
              </a:rPr>
              <a:t>Email Type:</a:t>
            </a:r>
          </a:p>
          <a:p>
            <a:pPr algn="l">
              <a:lnSpc>
                <a:spcPts val="1920"/>
              </a:lnSpc>
            </a:pPr>
            <a:r>
              <a:rPr lang="en-US" sz="1600" spc="-32" dirty="0">
                <a:solidFill>
                  <a:srgbClr val="F0F0F0"/>
                </a:solidFill>
                <a:latin typeface="Open Sauce"/>
                <a:ea typeface="Open Sauce"/>
                <a:cs typeface="Open Sauce"/>
                <a:sym typeface="Open Sauce"/>
              </a:rPr>
              <a:t>• 0 → Legitimate Email</a:t>
            </a:r>
          </a:p>
          <a:p>
            <a:pPr algn="l">
              <a:lnSpc>
                <a:spcPts val="1920"/>
              </a:lnSpc>
            </a:pPr>
            <a:r>
              <a:rPr lang="en-US" sz="1600" spc="-32" dirty="0">
                <a:solidFill>
                  <a:srgbClr val="F0F0F0"/>
                </a:solidFill>
                <a:latin typeface="Open Sauce"/>
                <a:ea typeface="Open Sauce"/>
                <a:cs typeface="Open Sauce"/>
                <a:sym typeface="Open Sauce"/>
              </a:rPr>
              <a:t>• 1 → Phishing Email</a:t>
            </a:r>
          </a:p>
          <a:p>
            <a:pPr algn="l">
              <a:lnSpc>
                <a:spcPts val="1920"/>
              </a:lnSpc>
            </a:pPr>
            <a:endParaRPr lang="en-US" sz="1600" spc="-32" dirty="0">
              <a:solidFill>
                <a:srgbClr val="F0F0F0"/>
              </a:solidFill>
              <a:latin typeface="Open Sauce"/>
              <a:ea typeface="Open Sauce"/>
              <a:cs typeface="Open Sauce"/>
              <a:sym typeface="Open Sauce"/>
            </a:endParaRPr>
          </a:p>
          <a:p>
            <a:pPr algn="l">
              <a:lnSpc>
                <a:spcPts val="1920"/>
              </a:lnSpc>
            </a:pPr>
            <a:r>
              <a:rPr lang="en-US" sz="1600" spc="-32" dirty="0">
                <a:solidFill>
                  <a:srgbClr val="F0F0F0"/>
                </a:solidFill>
                <a:latin typeface="Open Sauce"/>
                <a:ea typeface="Open Sauce"/>
                <a:cs typeface="Open Sauce"/>
                <a:sym typeface="Open Sauce"/>
              </a:rPr>
              <a:t>Email Text:</a:t>
            </a:r>
          </a:p>
          <a:p>
            <a:pPr algn="l">
              <a:lnSpc>
                <a:spcPts val="1920"/>
              </a:lnSpc>
            </a:pPr>
            <a:r>
              <a:rPr lang="en-US" sz="1600" spc="-32" dirty="0">
                <a:solidFill>
                  <a:srgbClr val="F0F0F0"/>
                </a:solidFill>
                <a:latin typeface="Open Sauce"/>
                <a:ea typeface="Open Sauce"/>
                <a:cs typeface="Open Sauce"/>
                <a:sym typeface="Open Sauce"/>
              </a:rPr>
              <a:t>• The email content containing either normal communication or phishing indicators used for threat detection.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C9A8E235-EC6C-0760-784F-C3D173820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sp>
        <p:nvSpPr>
          <p:cNvPr id="6" name="TextBox 6"/>
          <p:cNvSpPr txBox="1"/>
          <p:nvPr/>
        </p:nvSpPr>
        <p:spPr>
          <a:xfrm>
            <a:off x="549965" y="1128165"/>
            <a:ext cx="11886670" cy="3251836"/>
          </a:xfrm>
          <a:prstGeom prst="rect">
            <a:avLst/>
          </a:prstGeom>
        </p:spPr>
        <p:txBody>
          <a:bodyPr lIns="0" tIns="0" rIns="0" bIns="0" rtlCol="0" anchor="t">
            <a:spAutoFit/>
          </a:bodyPr>
          <a:lstStyle/>
          <a:p>
            <a:pPr marL="0" lvl="0" indent="0" algn="l">
              <a:lnSpc>
                <a:spcPts val="12462"/>
              </a:lnSpc>
              <a:spcBef>
                <a:spcPct val="0"/>
              </a:spcBef>
            </a:pPr>
            <a:r>
              <a:rPr lang="en-US" sz="12847" spc="-256" dirty="0">
                <a:solidFill>
                  <a:srgbClr val="F0F0F0"/>
                </a:solidFill>
                <a:latin typeface="Anton"/>
                <a:ea typeface="Anton"/>
                <a:cs typeface="Anton"/>
                <a:sym typeface="Anton"/>
              </a:rPr>
              <a:t>FEATURE ENGI</a:t>
            </a:r>
            <a:r>
              <a:rPr lang="en-US" sz="12847" u="none" strike="noStrike" spc="-256" dirty="0">
                <a:solidFill>
                  <a:srgbClr val="F0F0F0"/>
                </a:solidFill>
                <a:latin typeface="Anton"/>
                <a:ea typeface="Anton"/>
                <a:cs typeface="Anton"/>
                <a:sym typeface="Anton"/>
              </a:rPr>
              <a:t>NEERING</a:t>
            </a:r>
          </a:p>
        </p:txBody>
      </p:sp>
      <p:sp>
        <p:nvSpPr>
          <p:cNvPr id="7" name="TextBox 7"/>
          <p:cNvSpPr txBox="1"/>
          <p:nvPr/>
        </p:nvSpPr>
        <p:spPr>
          <a:xfrm>
            <a:off x="10058400" y="8191500"/>
            <a:ext cx="7755835" cy="1661993"/>
          </a:xfrm>
          <a:prstGeom prst="rect">
            <a:avLst/>
          </a:prstGeom>
        </p:spPr>
        <p:txBody>
          <a:bodyPr wrap="square" lIns="0" tIns="0" rIns="0" bIns="0" rtlCol="0" anchor="t">
            <a:spAutoFit/>
          </a:bodyPr>
          <a:lstStyle/>
          <a:p>
            <a:pPr algn="l"/>
            <a:r>
              <a:rPr lang="en-US" b="1" i="1" spc="-32" dirty="0">
                <a:solidFill>
                  <a:srgbClr val="F0F0F0"/>
                </a:solidFill>
                <a:latin typeface="Open Sauce Bold Italics"/>
                <a:ea typeface="Open Sauce Bold Italics"/>
                <a:cs typeface="Open Sauce Bold Italics"/>
                <a:sym typeface="Open Sauce Bold Italics"/>
              </a:rPr>
              <a:t>First, we separated the email text from its corresponding labels. The dataset was then split into training and testing sets using an 80:20 ratio. To convert textual data into a machine-readable format, we applied TF-IDF vectorization, which assigns importance scores to words based on their frequency and relevance. These numerical features were then used to train our Logistic Regression model.</a:t>
            </a:r>
          </a:p>
        </p:txBody>
      </p:sp>
      <p:sp>
        <p:nvSpPr>
          <p:cNvPr id="12" name="TextBox 12"/>
          <p:cNvSpPr txBox="1"/>
          <p:nvPr/>
        </p:nvSpPr>
        <p:spPr>
          <a:xfrm>
            <a:off x="549965" y="4811289"/>
            <a:ext cx="9372600" cy="3167534"/>
          </a:xfrm>
          <a:prstGeom prst="rect">
            <a:avLst/>
          </a:prstGeom>
        </p:spPr>
        <p:txBody>
          <a:bodyPr wrap="square" lIns="0" tIns="0" rIns="0" bIns="0" rtlCol="0" anchor="t">
            <a:spAutoFit/>
          </a:bodyPr>
          <a:lstStyle/>
          <a:p>
            <a:pPr algn="l">
              <a:lnSpc>
                <a:spcPts val="1920"/>
              </a:lnSpc>
            </a:pPr>
            <a:r>
              <a:rPr lang="en-US" sz="2000" spc="-32" dirty="0">
                <a:solidFill>
                  <a:srgbClr val="F0F0F0"/>
                </a:solidFill>
                <a:latin typeface="Open Sauce Italics"/>
                <a:ea typeface="Open Sauce Italics"/>
                <a:cs typeface="Open Sauce Italics"/>
                <a:sym typeface="Open Sauce Italics"/>
              </a:rPr>
              <a:t>• The dataset was divided into Features (X) and Labels (y).</a:t>
            </a:r>
          </a:p>
          <a:p>
            <a:pPr algn="l">
              <a:lnSpc>
                <a:spcPts val="1920"/>
              </a:lnSpc>
            </a:pPr>
            <a:endParaRPr lang="en-US" sz="2000" spc="-32" dirty="0">
              <a:solidFill>
                <a:srgbClr val="F0F0F0"/>
              </a:solidFill>
              <a:latin typeface="Open Sauce Italics"/>
              <a:ea typeface="Open Sauce Italics"/>
              <a:cs typeface="Open Sauce Italics"/>
              <a:sym typeface="Open Sauce Italics"/>
            </a:endParaRPr>
          </a:p>
          <a:p>
            <a:pPr algn="l">
              <a:lnSpc>
                <a:spcPts val="1920"/>
              </a:lnSpc>
            </a:pPr>
            <a:r>
              <a:rPr lang="en-US" sz="2000" spc="-32" dirty="0">
                <a:solidFill>
                  <a:srgbClr val="F0F0F0"/>
                </a:solidFill>
                <a:latin typeface="Open Sauce Italics"/>
                <a:ea typeface="Open Sauce Italics"/>
                <a:cs typeface="Open Sauce Italics"/>
                <a:sym typeface="Open Sauce Italics"/>
              </a:rPr>
              <a:t>• An 80:20 Train-Test Split was performed to train the model on historical data and evaluate its performance on unseen data.</a:t>
            </a:r>
          </a:p>
          <a:p>
            <a:pPr algn="l">
              <a:lnSpc>
                <a:spcPts val="1920"/>
              </a:lnSpc>
            </a:pPr>
            <a:endParaRPr lang="en-US" sz="2000" spc="-32" dirty="0">
              <a:solidFill>
                <a:srgbClr val="F0F0F0"/>
              </a:solidFill>
              <a:latin typeface="Open Sauce Italics"/>
              <a:ea typeface="Open Sauce Italics"/>
              <a:cs typeface="Open Sauce Italics"/>
              <a:sym typeface="Open Sauce Italics"/>
            </a:endParaRPr>
          </a:p>
          <a:p>
            <a:pPr algn="l">
              <a:lnSpc>
                <a:spcPts val="1920"/>
              </a:lnSpc>
            </a:pPr>
            <a:r>
              <a:rPr lang="en-US" sz="2000" spc="-32" dirty="0">
                <a:solidFill>
                  <a:srgbClr val="F0F0F0"/>
                </a:solidFill>
                <a:latin typeface="Open Sauce Italics"/>
                <a:ea typeface="Open Sauce Italics"/>
                <a:cs typeface="Open Sauce Italics"/>
                <a:sym typeface="Open Sauce Italics"/>
              </a:rPr>
              <a:t>• Stratified sampling was used to maintain the original class distribution in both training and testing datasets.</a:t>
            </a:r>
          </a:p>
          <a:p>
            <a:pPr algn="l">
              <a:lnSpc>
                <a:spcPts val="1920"/>
              </a:lnSpc>
            </a:pPr>
            <a:endParaRPr lang="en-US" sz="2000" spc="-32" dirty="0">
              <a:solidFill>
                <a:srgbClr val="F0F0F0"/>
              </a:solidFill>
              <a:latin typeface="Open Sauce Italics"/>
              <a:ea typeface="Open Sauce Italics"/>
              <a:cs typeface="Open Sauce Italics"/>
              <a:sym typeface="Open Sauce Italics"/>
            </a:endParaRPr>
          </a:p>
          <a:p>
            <a:pPr algn="l">
              <a:lnSpc>
                <a:spcPts val="1920"/>
              </a:lnSpc>
            </a:pPr>
            <a:r>
              <a:rPr lang="en-US" sz="2000" spc="-32" dirty="0">
                <a:solidFill>
                  <a:srgbClr val="F0F0F0"/>
                </a:solidFill>
                <a:latin typeface="Open Sauce Italics"/>
                <a:ea typeface="Open Sauce Italics"/>
                <a:cs typeface="Open Sauce Italics"/>
                <a:sym typeface="Open Sauce Italics"/>
              </a:rPr>
              <a:t>• TF-IDF (Term Frequency–Inverse Document Frequency) Vectorization was applied to transform textual email content into numerical feature vectors.</a:t>
            </a:r>
          </a:p>
          <a:p>
            <a:pPr algn="l">
              <a:lnSpc>
                <a:spcPts val="1920"/>
              </a:lnSpc>
            </a:pPr>
            <a:endParaRPr lang="en-US" sz="2000" spc="-32" dirty="0">
              <a:solidFill>
                <a:srgbClr val="F0F0F0"/>
              </a:solidFill>
              <a:latin typeface="Open Sauce Italics"/>
              <a:ea typeface="Open Sauce Italics"/>
              <a:cs typeface="Open Sauce Italics"/>
              <a:sym typeface="Open Sauce Italics"/>
            </a:endParaRPr>
          </a:p>
          <a:p>
            <a:pPr algn="l">
              <a:lnSpc>
                <a:spcPts val="1920"/>
              </a:lnSpc>
            </a:pPr>
            <a:r>
              <a:rPr lang="en-US" sz="2000" spc="-32" dirty="0">
                <a:solidFill>
                  <a:srgbClr val="F0F0F0"/>
                </a:solidFill>
                <a:latin typeface="Open Sauce Italics"/>
                <a:ea typeface="Open Sauce Italics"/>
                <a:cs typeface="Open Sauce Italics"/>
                <a:sym typeface="Open Sauce Italics"/>
              </a:rPr>
              <a:t>• The vectorized data was then used as input for machine learning model training.</a:t>
            </a:r>
          </a:p>
        </p:txBody>
      </p:sp>
      <p:pic>
        <p:nvPicPr>
          <p:cNvPr id="13" name="Picture 12">
            <a:extLst>
              <a:ext uri="{FF2B5EF4-FFF2-40B4-BE49-F238E27FC236}">
                <a16:creationId xmlns:a16="http://schemas.microsoft.com/office/drawing/2014/main" id="{5BC731FF-0AB6-5A97-7438-C479140738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0" y="836255"/>
            <a:ext cx="6528343" cy="7142568"/>
          </a:xfrm>
          <a:prstGeom prst="rect">
            <a:avLst/>
          </a:prstGeom>
        </p:spPr>
      </p:pic>
      <p:graphicFrame>
        <p:nvGraphicFramePr>
          <p:cNvPr id="14" name="Table 13">
            <a:extLst>
              <a:ext uri="{FF2B5EF4-FFF2-40B4-BE49-F238E27FC236}">
                <a16:creationId xmlns:a16="http://schemas.microsoft.com/office/drawing/2014/main" id="{89E2ABDC-C12B-FA39-FA3A-FA2C715B987F}"/>
              </a:ext>
            </a:extLst>
          </p:cNvPr>
          <p:cNvGraphicFramePr>
            <a:graphicFrameLocks noGrp="1"/>
          </p:cNvGraphicFramePr>
          <p:nvPr>
            <p:extLst>
              <p:ext uri="{D42A27DB-BD31-4B8C-83A1-F6EECF244321}">
                <p14:modId xmlns:p14="http://schemas.microsoft.com/office/powerpoint/2010/main" val="2748063978"/>
              </p:ext>
            </p:extLst>
          </p:nvPr>
        </p:nvGraphicFramePr>
        <p:xfrm>
          <a:off x="579782" y="8232863"/>
          <a:ext cx="8898835" cy="1538598"/>
        </p:xfrm>
        <a:graphic>
          <a:graphicData uri="http://schemas.openxmlformats.org/drawingml/2006/table">
            <a:tbl>
              <a:tblPr/>
              <a:tblGrid>
                <a:gridCol w="1892773">
                  <a:extLst>
                    <a:ext uri="{9D8B030D-6E8A-4147-A177-3AD203B41FA5}">
                      <a16:colId xmlns:a16="http://schemas.microsoft.com/office/drawing/2014/main" val="1951943819"/>
                    </a:ext>
                  </a:extLst>
                </a:gridCol>
                <a:gridCol w="3503031">
                  <a:extLst>
                    <a:ext uri="{9D8B030D-6E8A-4147-A177-3AD203B41FA5}">
                      <a16:colId xmlns:a16="http://schemas.microsoft.com/office/drawing/2014/main" val="852126563"/>
                    </a:ext>
                  </a:extLst>
                </a:gridCol>
                <a:gridCol w="3503031">
                  <a:extLst>
                    <a:ext uri="{9D8B030D-6E8A-4147-A177-3AD203B41FA5}">
                      <a16:colId xmlns:a16="http://schemas.microsoft.com/office/drawing/2014/main" val="2385732310"/>
                    </a:ext>
                  </a:extLst>
                </a:gridCol>
              </a:tblGrid>
              <a:tr h="512866">
                <a:tc>
                  <a:txBody>
                    <a:bodyPr/>
                    <a:lstStyle/>
                    <a:p>
                      <a:r>
                        <a:rPr lang="en-IN" dirty="0">
                          <a:solidFill>
                            <a:schemeClr val="bg1"/>
                          </a:solidFill>
                        </a:rPr>
                        <a:t>Variable Type</a:t>
                      </a:r>
                    </a:p>
                  </a:txBody>
                  <a:tcPr anchor="ctr">
                    <a:lnL>
                      <a:noFill/>
                    </a:lnL>
                    <a:lnR>
                      <a:noFill/>
                    </a:lnR>
                    <a:lnT>
                      <a:noFill/>
                    </a:lnT>
                    <a:lnB>
                      <a:noFill/>
                    </a:lnB>
                  </a:tcPr>
                </a:tc>
                <a:tc>
                  <a:txBody>
                    <a:bodyPr/>
                    <a:lstStyle/>
                    <a:p>
                      <a:r>
                        <a:rPr lang="en-IN">
                          <a:solidFill>
                            <a:schemeClr val="bg1"/>
                          </a:solidFill>
                        </a:rPr>
                        <a:t>Column Name</a:t>
                      </a:r>
                    </a:p>
                  </a:txBody>
                  <a:tcPr anchor="ctr">
                    <a:lnL>
                      <a:noFill/>
                    </a:lnL>
                    <a:lnR>
                      <a:noFill/>
                    </a:lnR>
                    <a:lnT>
                      <a:noFill/>
                    </a:lnT>
                    <a:lnB>
                      <a:noFill/>
                    </a:lnB>
                  </a:tcPr>
                </a:tc>
                <a:tc>
                  <a:txBody>
                    <a:bodyPr/>
                    <a:lstStyle/>
                    <a:p>
                      <a:r>
                        <a:rPr lang="en-IN">
                          <a:solidFill>
                            <a:schemeClr val="bg1"/>
                          </a:solidFill>
                        </a:rPr>
                        <a:t>Purpose</a:t>
                      </a:r>
                    </a:p>
                  </a:txBody>
                  <a:tcPr anchor="ctr">
                    <a:lnL>
                      <a:noFill/>
                    </a:lnL>
                    <a:lnR>
                      <a:noFill/>
                    </a:lnR>
                    <a:lnT>
                      <a:noFill/>
                    </a:lnT>
                    <a:lnB>
                      <a:noFill/>
                    </a:lnB>
                  </a:tcPr>
                </a:tc>
                <a:extLst>
                  <a:ext uri="{0D108BD9-81ED-4DB2-BD59-A6C34878D82A}">
                    <a16:rowId xmlns:a16="http://schemas.microsoft.com/office/drawing/2014/main" val="2847863086"/>
                  </a:ext>
                </a:extLst>
              </a:tr>
              <a:tr h="512866">
                <a:tc>
                  <a:txBody>
                    <a:bodyPr/>
                    <a:lstStyle/>
                    <a:p>
                      <a:r>
                        <a:rPr lang="en-IN" dirty="0">
                          <a:solidFill>
                            <a:schemeClr val="bg1"/>
                          </a:solidFill>
                        </a:rPr>
                        <a:t>Feature (X)</a:t>
                      </a:r>
                    </a:p>
                  </a:txBody>
                  <a:tcPr anchor="ctr">
                    <a:lnL>
                      <a:noFill/>
                    </a:lnL>
                    <a:lnR>
                      <a:noFill/>
                    </a:lnR>
                    <a:lnT>
                      <a:noFill/>
                    </a:lnT>
                    <a:lnB>
                      <a:noFill/>
                    </a:lnB>
                  </a:tcPr>
                </a:tc>
                <a:tc>
                  <a:txBody>
                    <a:bodyPr/>
                    <a:lstStyle/>
                    <a:p>
                      <a:r>
                        <a:rPr lang="en-IN" dirty="0">
                          <a:solidFill>
                            <a:schemeClr val="bg1"/>
                          </a:solidFill>
                        </a:rPr>
                        <a:t>message</a:t>
                      </a:r>
                    </a:p>
                  </a:txBody>
                  <a:tcPr anchor="ctr">
                    <a:lnL>
                      <a:noFill/>
                    </a:lnL>
                    <a:lnR>
                      <a:noFill/>
                    </a:lnR>
                    <a:lnT>
                      <a:noFill/>
                    </a:lnT>
                    <a:lnB>
                      <a:noFill/>
                    </a:lnB>
                  </a:tcPr>
                </a:tc>
                <a:tc>
                  <a:txBody>
                    <a:bodyPr/>
                    <a:lstStyle/>
                    <a:p>
                      <a:r>
                        <a:rPr lang="en-US" dirty="0">
                          <a:solidFill>
                            <a:schemeClr val="bg1"/>
                          </a:solidFill>
                        </a:rPr>
                        <a:t>Email/SMS text used for training</a:t>
                      </a:r>
                    </a:p>
                  </a:txBody>
                  <a:tcPr anchor="ctr">
                    <a:lnL>
                      <a:noFill/>
                    </a:lnL>
                    <a:lnR>
                      <a:noFill/>
                    </a:lnR>
                    <a:lnT>
                      <a:noFill/>
                    </a:lnT>
                    <a:lnB>
                      <a:noFill/>
                    </a:lnB>
                  </a:tcPr>
                </a:tc>
                <a:extLst>
                  <a:ext uri="{0D108BD9-81ED-4DB2-BD59-A6C34878D82A}">
                    <a16:rowId xmlns:a16="http://schemas.microsoft.com/office/drawing/2014/main" val="3528108861"/>
                  </a:ext>
                </a:extLst>
              </a:tr>
              <a:tr h="512866">
                <a:tc>
                  <a:txBody>
                    <a:bodyPr/>
                    <a:lstStyle/>
                    <a:p>
                      <a:r>
                        <a:rPr lang="en-IN">
                          <a:solidFill>
                            <a:schemeClr val="bg1"/>
                          </a:solidFill>
                        </a:rPr>
                        <a:t>Target (y)</a:t>
                      </a:r>
                    </a:p>
                  </a:txBody>
                  <a:tcPr anchor="ctr">
                    <a:lnL>
                      <a:noFill/>
                    </a:lnL>
                    <a:lnR>
                      <a:noFill/>
                    </a:lnR>
                    <a:lnT>
                      <a:noFill/>
                    </a:lnT>
                    <a:lnB>
                      <a:noFill/>
                    </a:lnB>
                  </a:tcPr>
                </a:tc>
                <a:tc>
                  <a:txBody>
                    <a:bodyPr/>
                    <a:lstStyle/>
                    <a:p>
                      <a:r>
                        <a:rPr lang="en-IN">
                          <a:solidFill>
                            <a:schemeClr val="bg1"/>
                          </a:solidFill>
                        </a:rPr>
                        <a:t>label</a:t>
                      </a:r>
                    </a:p>
                  </a:txBody>
                  <a:tcPr anchor="ctr">
                    <a:lnL>
                      <a:noFill/>
                    </a:lnL>
                    <a:lnR>
                      <a:noFill/>
                    </a:lnR>
                    <a:lnT>
                      <a:noFill/>
                    </a:lnT>
                    <a:lnB>
                      <a:noFill/>
                    </a:lnB>
                  </a:tcPr>
                </a:tc>
                <a:tc>
                  <a:txBody>
                    <a:bodyPr/>
                    <a:lstStyle/>
                    <a:p>
                      <a:r>
                        <a:rPr lang="en-US" dirty="0">
                          <a:solidFill>
                            <a:schemeClr val="bg1"/>
                          </a:solidFill>
                        </a:rPr>
                        <a:t>Class label to be predicted</a:t>
                      </a:r>
                    </a:p>
                  </a:txBody>
                  <a:tcPr anchor="ctr">
                    <a:lnL>
                      <a:noFill/>
                    </a:lnL>
                    <a:lnR>
                      <a:noFill/>
                    </a:lnR>
                    <a:lnT>
                      <a:noFill/>
                    </a:lnT>
                    <a:lnB>
                      <a:noFill/>
                    </a:lnB>
                  </a:tcPr>
                </a:tc>
                <a:extLst>
                  <a:ext uri="{0D108BD9-81ED-4DB2-BD59-A6C34878D82A}">
                    <a16:rowId xmlns:a16="http://schemas.microsoft.com/office/drawing/2014/main" val="114295394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4" name="TextBox 4"/>
          <p:cNvSpPr txBox="1"/>
          <p:nvPr/>
        </p:nvSpPr>
        <p:spPr>
          <a:xfrm>
            <a:off x="1023459" y="1181100"/>
            <a:ext cx="9643493" cy="1531060"/>
          </a:xfrm>
          <a:prstGeom prst="rect">
            <a:avLst/>
          </a:prstGeom>
        </p:spPr>
        <p:txBody>
          <a:bodyPr lIns="0" tIns="0" rIns="0" bIns="0" rtlCol="0" anchor="t">
            <a:spAutoFit/>
          </a:bodyPr>
          <a:lstStyle/>
          <a:p>
            <a:pPr marL="0" lvl="0" indent="0" algn="l">
              <a:lnSpc>
                <a:spcPts val="11699"/>
              </a:lnSpc>
              <a:spcBef>
                <a:spcPct val="0"/>
              </a:spcBef>
            </a:pPr>
            <a:r>
              <a:rPr lang="en-US" sz="12061" spc="-241" dirty="0">
                <a:solidFill>
                  <a:srgbClr val="004AAD"/>
                </a:solidFill>
                <a:latin typeface="Anton"/>
                <a:ea typeface="Anton"/>
                <a:cs typeface="Anton"/>
                <a:sym typeface="Anton"/>
              </a:rPr>
              <a:t>MOD</a:t>
            </a:r>
            <a:r>
              <a:rPr lang="en-US" sz="12061" u="none" strike="noStrike" spc="-241" dirty="0">
                <a:solidFill>
                  <a:srgbClr val="004AAD"/>
                </a:solidFill>
                <a:latin typeface="Anton"/>
                <a:ea typeface="Anton"/>
                <a:cs typeface="Anton"/>
                <a:sym typeface="Anton"/>
              </a:rPr>
              <a:t>EL TRAINING</a:t>
            </a:r>
          </a:p>
        </p:txBody>
      </p:sp>
      <p:sp>
        <p:nvSpPr>
          <p:cNvPr id="7" name="TextBox 7"/>
          <p:cNvSpPr txBox="1"/>
          <p:nvPr/>
        </p:nvSpPr>
        <p:spPr>
          <a:xfrm>
            <a:off x="1020838" y="5118652"/>
            <a:ext cx="5148741" cy="2769989"/>
          </a:xfrm>
          <a:prstGeom prst="rect">
            <a:avLst/>
          </a:prstGeom>
        </p:spPr>
        <p:txBody>
          <a:bodyPr wrap="square" lIns="0" tIns="0" rIns="0" bIns="0" rtlCol="0" anchor="t">
            <a:spAutoFit/>
          </a:bodyPr>
          <a:lstStyle/>
          <a:p>
            <a:pPr algn="l"/>
            <a:r>
              <a:rPr lang="en-US" sz="2000" spc="-32" dirty="0">
                <a:solidFill>
                  <a:srgbClr val="004AAD"/>
                </a:solidFill>
                <a:latin typeface="Open Sauce"/>
                <a:ea typeface="Open Sauce"/>
                <a:cs typeface="Open Sauce"/>
                <a:sym typeface="Open Sauce"/>
              </a:rPr>
              <a:t>The evaluation process measured the ability of each model to correctly classify malicious and legitimate messages.</a:t>
            </a:r>
          </a:p>
          <a:p>
            <a:pPr algn="l"/>
            <a:endParaRPr lang="en-US" sz="2000" spc="-32" dirty="0">
              <a:solidFill>
                <a:srgbClr val="004AAD"/>
              </a:solidFill>
              <a:latin typeface="Open Sauce"/>
              <a:ea typeface="Open Sauce"/>
              <a:cs typeface="Open Sauce"/>
              <a:sym typeface="Open Sauce"/>
            </a:endParaRPr>
          </a:p>
          <a:p>
            <a:pPr algn="l"/>
            <a:r>
              <a:rPr lang="en-US" sz="2000" spc="-32" dirty="0">
                <a:solidFill>
                  <a:srgbClr val="004AAD"/>
                </a:solidFill>
                <a:latin typeface="Open Sauce"/>
                <a:ea typeface="Open Sauce"/>
                <a:cs typeface="Open Sauce"/>
                <a:sym typeface="Open Sauce"/>
              </a:rPr>
              <a:t>Accuracy was used to measure overall correctness, while Precision, Recall, and F1 Score provided deeper insights into threat detection performance and classification reliability.</a:t>
            </a:r>
          </a:p>
        </p:txBody>
      </p:sp>
      <p:sp>
        <p:nvSpPr>
          <p:cNvPr id="8" name="TextBox 8"/>
          <p:cNvSpPr txBox="1"/>
          <p:nvPr/>
        </p:nvSpPr>
        <p:spPr>
          <a:xfrm>
            <a:off x="1020838" y="2712160"/>
            <a:ext cx="9875762" cy="2192908"/>
          </a:xfrm>
          <a:prstGeom prst="rect">
            <a:avLst/>
          </a:prstGeom>
        </p:spPr>
        <p:txBody>
          <a:bodyPr wrap="square" lIns="0" tIns="0" rIns="0" bIns="0" rtlCol="0" anchor="t">
            <a:spAutoFit/>
          </a:bodyPr>
          <a:lstStyle/>
          <a:p>
            <a:pPr algn="l">
              <a:lnSpc>
                <a:spcPts val="1920"/>
              </a:lnSpc>
            </a:pPr>
            <a:r>
              <a:rPr lang="en-US" sz="2000" b="1" i="1" spc="-32" dirty="0">
                <a:solidFill>
                  <a:srgbClr val="004AAD"/>
                </a:solidFill>
                <a:latin typeface="Open Sauce Bold Italics"/>
                <a:ea typeface="Open Sauce Bold Italics"/>
                <a:cs typeface="Open Sauce Bold Italics"/>
                <a:sym typeface="Open Sauce Bold Italics"/>
              </a:rPr>
              <a:t>To identify the most effective classification algorithm, multiple machine learning models were trained and evaluated on the same dataset.</a:t>
            </a:r>
          </a:p>
          <a:p>
            <a:pPr algn="l">
              <a:lnSpc>
                <a:spcPts val="1920"/>
              </a:lnSpc>
            </a:pPr>
            <a:endParaRPr lang="en-US" sz="2000" b="1" i="1" spc="-32" dirty="0">
              <a:solidFill>
                <a:srgbClr val="004AAD"/>
              </a:solidFill>
              <a:latin typeface="Open Sauce Bold Italics"/>
              <a:ea typeface="Open Sauce Bold Italics"/>
              <a:cs typeface="Open Sauce Bold Italics"/>
              <a:sym typeface="Open Sauce Bold Italics"/>
            </a:endParaRPr>
          </a:p>
          <a:p>
            <a:pPr algn="l">
              <a:lnSpc>
                <a:spcPts val="1920"/>
              </a:lnSpc>
            </a:pPr>
            <a:r>
              <a:rPr lang="en-US" sz="2000" b="1" i="1" spc="-32" dirty="0">
                <a:solidFill>
                  <a:srgbClr val="004AAD"/>
                </a:solidFill>
                <a:latin typeface="Open Sauce Bold Italics"/>
                <a:ea typeface="Open Sauce Bold Italics"/>
                <a:cs typeface="Open Sauce Bold Italics"/>
                <a:sym typeface="Open Sauce Bold Italics"/>
              </a:rPr>
              <a:t>The models tested included Logistic Regression, Naive Bayes, Decision Tree, Random Forest, and Linear SVM. Each model was trained using TF-IDF feature vectors generated from the email content.</a:t>
            </a:r>
          </a:p>
          <a:p>
            <a:pPr algn="l">
              <a:lnSpc>
                <a:spcPts val="1920"/>
              </a:lnSpc>
            </a:pPr>
            <a:endParaRPr lang="en-US" sz="2000" b="1" i="1" spc="-32" dirty="0">
              <a:solidFill>
                <a:srgbClr val="004AAD"/>
              </a:solidFill>
              <a:latin typeface="Open Sauce Bold Italics"/>
              <a:ea typeface="Open Sauce Bold Italics"/>
              <a:cs typeface="Open Sauce Bold Italics"/>
              <a:sym typeface="Open Sauce Bold Italics"/>
            </a:endParaRPr>
          </a:p>
          <a:p>
            <a:pPr algn="l">
              <a:lnSpc>
                <a:spcPts val="1920"/>
              </a:lnSpc>
            </a:pPr>
            <a:r>
              <a:rPr lang="en-US" sz="2000" b="1" i="1" spc="-32" dirty="0">
                <a:solidFill>
                  <a:srgbClr val="004AAD"/>
                </a:solidFill>
                <a:latin typeface="Open Sauce Bold Italics"/>
                <a:ea typeface="Open Sauce Bold Italics"/>
                <a:cs typeface="Open Sauce Bold Italics"/>
                <a:sym typeface="Open Sauce Bold Italics"/>
              </a:rPr>
              <a:t>Their performance was compared using Accuracy, Precision, Recall, and F1 Score metrics to determine the most suitable model for deployment.</a:t>
            </a:r>
          </a:p>
        </p:txBody>
      </p:sp>
      <p:pic>
        <p:nvPicPr>
          <p:cNvPr id="9" name="Picture 8">
            <a:extLst>
              <a:ext uri="{FF2B5EF4-FFF2-40B4-BE49-F238E27FC236}">
                <a16:creationId xmlns:a16="http://schemas.microsoft.com/office/drawing/2014/main" id="{456E3C46-4A54-914B-9B17-723C4BE6D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73000" y="2220949"/>
            <a:ext cx="5403870" cy="7882503"/>
          </a:xfrm>
          <a:prstGeom prst="rect">
            <a:avLst/>
          </a:prstGeom>
        </p:spPr>
      </p:pic>
      <p:pic>
        <p:nvPicPr>
          <p:cNvPr id="11" name="Picture 10">
            <a:extLst>
              <a:ext uri="{FF2B5EF4-FFF2-40B4-BE49-F238E27FC236}">
                <a16:creationId xmlns:a16="http://schemas.microsoft.com/office/drawing/2014/main" id="{99CF831C-26A2-6669-1F4C-0ED249AE6D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77459" y="6436128"/>
            <a:ext cx="5995542" cy="3655402"/>
          </a:xfrm>
          <a:prstGeom prst="rect">
            <a:avLst/>
          </a:prstGeom>
        </p:spPr>
      </p:pic>
      <p:sp>
        <p:nvSpPr>
          <p:cNvPr id="13" name="TextBox 12">
            <a:extLst>
              <a:ext uri="{FF2B5EF4-FFF2-40B4-BE49-F238E27FC236}">
                <a16:creationId xmlns:a16="http://schemas.microsoft.com/office/drawing/2014/main" id="{26EC9322-1B85-1ED0-2C4D-803F5482BF00}"/>
              </a:ext>
            </a:extLst>
          </p:cNvPr>
          <p:cNvSpPr txBox="1"/>
          <p:nvPr/>
        </p:nvSpPr>
        <p:spPr>
          <a:xfrm>
            <a:off x="12536557" y="1940920"/>
            <a:ext cx="9144000" cy="335989"/>
          </a:xfrm>
          <a:prstGeom prst="rect">
            <a:avLst/>
          </a:prstGeom>
          <a:noFill/>
        </p:spPr>
        <p:txBody>
          <a:bodyPr wrap="square">
            <a:spAutoFit/>
          </a:bodyPr>
          <a:lstStyle/>
          <a:p>
            <a:pPr algn="l">
              <a:lnSpc>
                <a:spcPts val="1920"/>
              </a:lnSpc>
            </a:pPr>
            <a:r>
              <a:rPr lang="en-US" sz="1800" b="1" i="1" spc="-32" dirty="0">
                <a:latin typeface="Open Sauce Bold Italics"/>
                <a:ea typeface="Open Sauce Bold Italics"/>
                <a:cs typeface="Open Sauce Bold Italics"/>
                <a:sym typeface="Open Sauce Bold Italics"/>
              </a:rPr>
              <a:t>Model Definition</a:t>
            </a:r>
          </a:p>
        </p:txBody>
      </p:sp>
      <p:sp>
        <p:nvSpPr>
          <p:cNvPr id="15" name="TextBox 14">
            <a:extLst>
              <a:ext uri="{FF2B5EF4-FFF2-40B4-BE49-F238E27FC236}">
                <a16:creationId xmlns:a16="http://schemas.microsoft.com/office/drawing/2014/main" id="{15ECBB34-4F4F-B98C-28A7-A4BB5E1E4222}"/>
              </a:ext>
            </a:extLst>
          </p:cNvPr>
          <p:cNvSpPr txBox="1"/>
          <p:nvPr/>
        </p:nvSpPr>
        <p:spPr>
          <a:xfrm>
            <a:off x="6607275" y="6136464"/>
            <a:ext cx="10843590" cy="335989"/>
          </a:xfrm>
          <a:prstGeom prst="rect">
            <a:avLst/>
          </a:prstGeom>
          <a:noFill/>
        </p:spPr>
        <p:txBody>
          <a:bodyPr wrap="square">
            <a:spAutoFit/>
          </a:bodyPr>
          <a:lstStyle/>
          <a:p>
            <a:pPr algn="l">
              <a:lnSpc>
                <a:spcPts val="1920"/>
              </a:lnSpc>
            </a:pPr>
            <a:r>
              <a:rPr lang="en-US" b="1" i="1" spc="-32" dirty="0">
                <a:latin typeface="Open Sauce Bold Italics"/>
                <a:ea typeface="Open Sauce Bold Italics"/>
                <a:cs typeface="Open Sauce Bold Italics"/>
                <a:sym typeface="Open Sauce Bold Italics"/>
              </a:rPr>
              <a:t>O/P after Model training</a:t>
            </a:r>
            <a:endParaRPr lang="en-US" sz="1800" b="1" i="1" spc="-32" dirty="0">
              <a:latin typeface="Open Sauce Bold Italics"/>
              <a:ea typeface="Open Sauce Bold Italics"/>
              <a:cs typeface="Open Sauce Bold Italics"/>
              <a:sym typeface="Open Sauce Bold Italic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TextBox 6"/>
          <p:cNvSpPr txBox="1"/>
          <p:nvPr/>
        </p:nvSpPr>
        <p:spPr>
          <a:xfrm>
            <a:off x="774845" y="6830076"/>
            <a:ext cx="10986242" cy="3317127"/>
          </a:xfrm>
          <a:prstGeom prst="rect">
            <a:avLst/>
          </a:prstGeom>
        </p:spPr>
        <p:txBody>
          <a:bodyPr wrap="square" lIns="0" tIns="0" rIns="0" bIns="0" rtlCol="0" anchor="t">
            <a:spAutoFit/>
          </a:bodyPr>
          <a:lstStyle/>
          <a:p>
            <a:pPr marL="0" lvl="0" indent="0" algn="l">
              <a:lnSpc>
                <a:spcPts val="12817"/>
              </a:lnSpc>
              <a:spcBef>
                <a:spcPct val="0"/>
              </a:spcBef>
            </a:pPr>
            <a:r>
              <a:rPr lang="en-US" sz="13214" spc="-264" dirty="0">
                <a:solidFill>
                  <a:srgbClr val="004AAD"/>
                </a:solidFill>
                <a:latin typeface="Anton"/>
                <a:ea typeface="Anton"/>
                <a:cs typeface="Anton"/>
                <a:sym typeface="Anton"/>
              </a:rPr>
              <a:t>MODEL </a:t>
            </a:r>
          </a:p>
          <a:p>
            <a:pPr marL="0" lvl="0" indent="0" algn="l">
              <a:lnSpc>
                <a:spcPts val="12817"/>
              </a:lnSpc>
              <a:spcBef>
                <a:spcPct val="0"/>
              </a:spcBef>
            </a:pPr>
            <a:r>
              <a:rPr lang="en-US" sz="13214" spc="-264" dirty="0">
                <a:solidFill>
                  <a:srgbClr val="004AAD"/>
                </a:solidFill>
                <a:latin typeface="Anton"/>
                <a:ea typeface="Anton"/>
                <a:cs typeface="Anton"/>
                <a:sym typeface="Anton"/>
              </a:rPr>
              <a:t>SELECTION</a:t>
            </a:r>
            <a:endParaRPr lang="en-US" sz="13214" u="none" strike="noStrike" spc="-264" dirty="0">
              <a:solidFill>
                <a:srgbClr val="004AAD"/>
              </a:solidFill>
              <a:latin typeface="Anton"/>
              <a:ea typeface="Anton"/>
              <a:cs typeface="Anton"/>
              <a:sym typeface="Anton"/>
            </a:endParaRPr>
          </a:p>
        </p:txBody>
      </p:sp>
      <p:pic>
        <p:nvPicPr>
          <p:cNvPr id="2" name="Picture 1">
            <a:extLst>
              <a:ext uri="{FF2B5EF4-FFF2-40B4-BE49-F238E27FC236}">
                <a16:creationId xmlns:a16="http://schemas.microsoft.com/office/drawing/2014/main" id="{1CAB1105-49E4-0C74-67A9-9C0233988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62800" y="8887590"/>
            <a:ext cx="2737702" cy="763675"/>
          </a:xfrm>
          <a:prstGeom prst="rect">
            <a:avLst/>
          </a:prstGeom>
        </p:spPr>
      </p:pic>
      <p:sp>
        <p:nvSpPr>
          <p:cNvPr id="7" name="TextBox 6">
            <a:extLst>
              <a:ext uri="{FF2B5EF4-FFF2-40B4-BE49-F238E27FC236}">
                <a16:creationId xmlns:a16="http://schemas.microsoft.com/office/drawing/2014/main" id="{E4138D59-7E40-3556-A504-EDEDC224C490}"/>
              </a:ext>
            </a:extLst>
          </p:cNvPr>
          <p:cNvSpPr txBox="1"/>
          <p:nvPr/>
        </p:nvSpPr>
        <p:spPr>
          <a:xfrm>
            <a:off x="774845" y="3591816"/>
            <a:ext cx="9422294" cy="2528897"/>
          </a:xfrm>
          <a:prstGeom prst="rect">
            <a:avLst/>
          </a:prstGeom>
          <a:noFill/>
        </p:spPr>
        <p:txBody>
          <a:bodyPr wrap="square">
            <a:spAutoFit/>
          </a:bodyPr>
          <a:lstStyle/>
          <a:p>
            <a:pPr algn="l">
              <a:lnSpc>
                <a:spcPts val="1920"/>
              </a:lnSpc>
            </a:pPr>
            <a:r>
              <a:rPr lang="en-US" sz="1800" b="1" i="1" spc="-32" dirty="0">
                <a:solidFill>
                  <a:srgbClr val="004AAD"/>
                </a:solidFill>
                <a:latin typeface="Open Sauce Bold Italics"/>
                <a:ea typeface="Open Sauce Bold Italics"/>
                <a:cs typeface="Open Sauce Bold Italics"/>
                <a:sym typeface="Open Sauce Bold Italics"/>
              </a:rPr>
              <a:t>Based on the evaluation results, Logistic Regression was selected as the final model for CyberShield AI.</a:t>
            </a:r>
          </a:p>
          <a:p>
            <a:pPr algn="l">
              <a:lnSpc>
                <a:spcPts val="1920"/>
              </a:lnSpc>
            </a:pPr>
            <a:endParaRPr lang="en-US" sz="1800" b="1" i="1" spc="-32" dirty="0">
              <a:solidFill>
                <a:srgbClr val="004AAD"/>
              </a:solidFill>
              <a:latin typeface="Open Sauce Bold Italics"/>
              <a:ea typeface="Open Sauce Bold Italics"/>
              <a:cs typeface="Open Sauce Bold Italics"/>
              <a:sym typeface="Open Sauce Bold Italics"/>
            </a:endParaRPr>
          </a:p>
          <a:p>
            <a:pPr algn="l">
              <a:lnSpc>
                <a:spcPts val="1920"/>
              </a:lnSpc>
            </a:pPr>
            <a:r>
              <a:rPr lang="en-US" sz="1800" b="1" i="1" spc="-32" dirty="0">
                <a:solidFill>
                  <a:srgbClr val="004AAD"/>
                </a:solidFill>
                <a:latin typeface="Open Sauce Bold Italics"/>
                <a:ea typeface="Open Sauce Bold Italics"/>
                <a:cs typeface="Open Sauce Bold Italics"/>
                <a:sym typeface="Open Sauce Bold Italics"/>
              </a:rPr>
              <a:t>Reasons for Selection:</a:t>
            </a:r>
          </a:p>
          <a:p>
            <a:pPr algn="l">
              <a:lnSpc>
                <a:spcPts val="1920"/>
              </a:lnSpc>
            </a:pPr>
            <a:endParaRPr lang="en-US" b="1" i="1" spc="-32" dirty="0">
              <a:solidFill>
                <a:srgbClr val="004AAD"/>
              </a:solidFill>
              <a:latin typeface="Open Sauce Bold Italics"/>
              <a:ea typeface="Open Sauce Bold Italics"/>
              <a:cs typeface="Open Sauce Bold Italics"/>
              <a:sym typeface="Open Sauce Bold Italics"/>
            </a:endParaRPr>
          </a:p>
          <a:p>
            <a:pPr algn="l">
              <a:lnSpc>
                <a:spcPts val="1920"/>
              </a:lnSpc>
            </a:pPr>
            <a:r>
              <a:rPr lang="en-US" sz="1800" b="1" i="1" spc="-32" dirty="0">
                <a:solidFill>
                  <a:srgbClr val="004AAD"/>
                </a:solidFill>
                <a:latin typeface="Open Sauce Bold Italics"/>
                <a:ea typeface="Open Sauce Bold Italics"/>
                <a:cs typeface="Open Sauce Bold Italics"/>
                <a:sym typeface="Open Sauce Bold Italics"/>
              </a:rPr>
              <a:t>• Strong Precision and Recall scores</a:t>
            </a:r>
          </a:p>
          <a:p>
            <a:pPr algn="l">
              <a:lnSpc>
                <a:spcPts val="1920"/>
              </a:lnSpc>
            </a:pPr>
            <a:r>
              <a:rPr lang="en-US" sz="1800" b="1" i="1" spc="-32" dirty="0">
                <a:solidFill>
                  <a:srgbClr val="004AAD"/>
                </a:solidFill>
                <a:latin typeface="Open Sauce Bold Italics"/>
                <a:ea typeface="Open Sauce Bold Italics"/>
                <a:cs typeface="Open Sauce Bold Italics"/>
                <a:sym typeface="Open Sauce Bold Italics"/>
              </a:rPr>
              <a:t>• Fast training and prediction speed</a:t>
            </a:r>
          </a:p>
          <a:p>
            <a:pPr algn="l">
              <a:lnSpc>
                <a:spcPts val="1920"/>
              </a:lnSpc>
            </a:pPr>
            <a:r>
              <a:rPr lang="en-US" sz="1800" b="1" i="1" spc="-32" dirty="0">
                <a:solidFill>
                  <a:srgbClr val="004AAD"/>
                </a:solidFill>
                <a:latin typeface="Open Sauce Bold Italics"/>
                <a:ea typeface="Open Sauce Bold Italics"/>
                <a:cs typeface="Open Sauce Bold Italics"/>
                <a:sym typeface="Open Sauce Bold Italics"/>
              </a:rPr>
              <a:t>• Low computational overhead</a:t>
            </a:r>
          </a:p>
          <a:p>
            <a:pPr algn="l">
              <a:lnSpc>
                <a:spcPts val="1920"/>
              </a:lnSpc>
            </a:pPr>
            <a:r>
              <a:rPr lang="en-US" sz="1800" b="1" i="1" spc="-32" dirty="0">
                <a:solidFill>
                  <a:srgbClr val="004AAD"/>
                </a:solidFill>
                <a:latin typeface="Open Sauce Bold Italics"/>
                <a:ea typeface="Open Sauce Bold Italics"/>
                <a:cs typeface="Open Sauce Bold Italics"/>
                <a:sym typeface="Open Sauce Bold Italics"/>
              </a:rPr>
              <a:t>• Excellent compatibility with TF-IDF features</a:t>
            </a:r>
          </a:p>
          <a:p>
            <a:pPr algn="l">
              <a:lnSpc>
                <a:spcPts val="1920"/>
              </a:lnSpc>
            </a:pPr>
            <a:r>
              <a:rPr lang="en-US" sz="1800" b="1" i="1" spc="-32" dirty="0">
                <a:solidFill>
                  <a:srgbClr val="004AAD"/>
                </a:solidFill>
                <a:latin typeface="Open Sauce Bold Italics"/>
                <a:ea typeface="Open Sauce Bold Italics"/>
                <a:cs typeface="Open Sauce Bold Italics"/>
                <a:sym typeface="Open Sauce Bold Italics"/>
              </a:rPr>
              <a:t>• Easy deployment using Joblib serialization</a:t>
            </a:r>
          </a:p>
        </p:txBody>
      </p:sp>
      <p:sp>
        <p:nvSpPr>
          <p:cNvPr id="8" name="TextBox 6">
            <a:extLst>
              <a:ext uri="{FF2B5EF4-FFF2-40B4-BE49-F238E27FC236}">
                <a16:creationId xmlns:a16="http://schemas.microsoft.com/office/drawing/2014/main" id="{E2D0A3C9-58D3-B58B-557B-E7F411D75FC5}"/>
              </a:ext>
            </a:extLst>
          </p:cNvPr>
          <p:cNvSpPr txBox="1"/>
          <p:nvPr/>
        </p:nvSpPr>
        <p:spPr>
          <a:xfrm>
            <a:off x="774845" y="1017572"/>
            <a:ext cx="8697913" cy="1846659"/>
          </a:xfrm>
          <a:prstGeom prst="rect">
            <a:avLst/>
          </a:prstGeom>
        </p:spPr>
        <p:txBody>
          <a:bodyPr wrap="square" lIns="0" tIns="0" rIns="0" bIns="0" rtlCol="0" anchor="t">
            <a:spAutoFit/>
          </a:bodyPr>
          <a:lstStyle/>
          <a:p>
            <a:pPr algn="l"/>
            <a:r>
              <a:rPr lang="en-US" sz="2000" spc="-100" dirty="0">
                <a:solidFill>
                  <a:srgbClr val="004AAD"/>
                </a:solidFill>
                <a:latin typeface="Open Sauce"/>
                <a:ea typeface="Open Sauce"/>
                <a:cs typeface="Open Sauce"/>
                <a:sym typeface="Open Sauce"/>
              </a:rPr>
              <a:t>Instead of directly choosing a model, we evaluated five different machine learning algorithms. Each model was trained using the same TF-IDF feature set and tested on unseen data. After comparing Accuracy, Precision, Recall, and F1 Score, Logistic Regression demonstrated the best balance between performance and efficiency, making it the most suitable model for CyberShield AI.</a:t>
            </a:r>
          </a:p>
        </p:txBody>
      </p:sp>
      <p:pic>
        <p:nvPicPr>
          <p:cNvPr id="10" name="Picture 9">
            <a:extLst>
              <a:ext uri="{FF2B5EF4-FFF2-40B4-BE49-F238E27FC236}">
                <a16:creationId xmlns:a16="http://schemas.microsoft.com/office/drawing/2014/main" id="{88C92FED-39A4-1062-CC04-4081D09926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9400" y="3458581"/>
            <a:ext cx="7272537" cy="6434491"/>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sp>
        <p:nvSpPr>
          <p:cNvPr id="4" name="TextBox 4"/>
          <p:cNvSpPr txBox="1"/>
          <p:nvPr/>
        </p:nvSpPr>
        <p:spPr>
          <a:xfrm>
            <a:off x="1028700" y="1216977"/>
            <a:ext cx="8898492" cy="1757045"/>
          </a:xfrm>
          <a:prstGeom prst="rect">
            <a:avLst/>
          </a:prstGeom>
        </p:spPr>
        <p:txBody>
          <a:bodyPr lIns="0" tIns="0" rIns="0" bIns="0" rtlCol="0" anchor="t">
            <a:spAutoFit/>
          </a:bodyPr>
          <a:lstStyle/>
          <a:p>
            <a:pPr marL="0" lvl="0" indent="0" algn="l">
              <a:lnSpc>
                <a:spcPts val="6789"/>
              </a:lnSpc>
              <a:spcBef>
                <a:spcPct val="0"/>
              </a:spcBef>
            </a:pPr>
            <a:r>
              <a:rPr lang="en-US" sz="6999" spc="-139" dirty="0">
                <a:solidFill>
                  <a:srgbClr val="F0F0F0"/>
                </a:solidFill>
                <a:latin typeface="Anton"/>
                <a:ea typeface="Anton"/>
                <a:cs typeface="Anton"/>
                <a:sym typeface="Anton"/>
              </a:rPr>
              <a:t>MODEL PERSISTE</a:t>
            </a:r>
            <a:r>
              <a:rPr lang="en-US" sz="6999" u="none" strike="noStrike" spc="-139" dirty="0">
                <a:solidFill>
                  <a:srgbClr val="F0F0F0"/>
                </a:solidFill>
                <a:latin typeface="Anton"/>
                <a:ea typeface="Anton"/>
                <a:cs typeface="Anton"/>
                <a:sym typeface="Anton"/>
              </a:rPr>
              <a:t>NCE (JOBLIB)</a:t>
            </a:r>
          </a:p>
        </p:txBody>
      </p:sp>
      <p:sp>
        <p:nvSpPr>
          <p:cNvPr id="6" name="TextBox 6"/>
          <p:cNvSpPr txBox="1"/>
          <p:nvPr/>
        </p:nvSpPr>
        <p:spPr>
          <a:xfrm>
            <a:off x="8632133" y="1632527"/>
            <a:ext cx="3557237" cy="243656"/>
          </a:xfrm>
          <a:prstGeom prst="rect">
            <a:avLst/>
          </a:prstGeom>
        </p:spPr>
        <p:txBody>
          <a:bodyPr lIns="0" tIns="0" rIns="0" bIns="0" rtlCol="0" anchor="t">
            <a:spAutoFit/>
          </a:bodyPr>
          <a:lstStyle/>
          <a:p>
            <a:pPr algn="l">
              <a:lnSpc>
                <a:spcPts val="1920"/>
              </a:lnSpc>
            </a:pPr>
            <a:r>
              <a:rPr lang="en-US" sz="1600" b="1" i="1" spc="-32" dirty="0">
                <a:solidFill>
                  <a:srgbClr val="F0F0F0"/>
                </a:solidFill>
                <a:latin typeface="Open Sauce Bold Italics"/>
                <a:ea typeface="Open Sauce Bold Italics"/>
                <a:cs typeface="Open Sauce Bold Italics"/>
                <a:sym typeface="Open Sauce Bold Italics"/>
              </a:rPr>
              <a:t>WHAT EACHFILE REPRESENTS</a:t>
            </a:r>
          </a:p>
        </p:txBody>
      </p:sp>
      <p:sp>
        <p:nvSpPr>
          <p:cNvPr id="7" name="TextBox 7"/>
          <p:cNvSpPr txBox="1"/>
          <p:nvPr/>
        </p:nvSpPr>
        <p:spPr>
          <a:xfrm>
            <a:off x="1028700" y="3752357"/>
            <a:ext cx="6667500" cy="4001095"/>
          </a:xfrm>
          <a:prstGeom prst="rect">
            <a:avLst/>
          </a:prstGeom>
        </p:spPr>
        <p:txBody>
          <a:bodyPr wrap="square" lIns="0" tIns="0" rIns="0" bIns="0" rtlCol="0" anchor="t">
            <a:spAutoFit/>
          </a:bodyPr>
          <a:lstStyle/>
          <a:p>
            <a:pPr algn="l"/>
            <a:r>
              <a:rPr lang="en-US" sz="2000" spc="-32" dirty="0">
                <a:solidFill>
                  <a:srgbClr val="F0F0F0"/>
                </a:solidFill>
                <a:latin typeface="Open Sauce"/>
                <a:ea typeface="Open Sauce"/>
                <a:cs typeface="Open Sauce"/>
                <a:sym typeface="Open Sauce"/>
              </a:rPr>
              <a:t>After training and evaluating the machine learning models, the final models were serialized using the Joblib library.</a:t>
            </a:r>
          </a:p>
          <a:p>
            <a:pPr algn="l"/>
            <a:endParaRPr lang="en-US" sz="2000" spc="-32" dirty="0">
              <a:solidFill>
                <a:srgbClr val="F0F0F0"/>
              </a:solidFill>
              <a:latin typeface="Open Sauce"/>
              <a:ea typeface="Open Sauce"/>
              <a:cs typeface="Open Sauce"/>
              <a:sym typeface="Open Sauce"/>
            </a:endParaRPr>
          </a:p>
          <a:p>
            <a:pPr algn="l"/>
            <a:r>
              <a:rPr lang="en-US" sz="2000" spc="-32" dirty="0">
                <a:solidFill>
                  <a:srgbClr val="F0F0F0"/>
                </a:solidFill>
                <a:latin typeface="Open Sauce"/>
                <a:ea typeface="Open Sauce"/>
                <a:cs typeface="Open Sauce"/>
                <a:sym typeface="Open Sauce"/>
              </a:rPr>
              <a:t>The trained Spam Detection Model, Phishing Detection Model, and TF-IDF Vectorizers were saved as .</a:t>
            </a:r>
            <a:r>
              <a:rPr lang="en-US" sz="2000" spc="-32" dirty="0" err="1">
                <a:solidFill>
                  <a:srgbClr val="F0F0F0"/>
                </a:solidFill>
                <a:latin typeface="Open Sauce"/>
                <a:ea typeface="Open Sauce"/>
                <a:cs typeface="Open Sauce"/>
                <a:sym typeface="Open Sauce"/>
              </a:rPr>
              <a:t>pkl</a:t>
            </a:r>
            <a:r>
              <a:rPr lang="en-US" sz="2000" spc="-32" dirty="0">
                <a:solidFill>
                  <a:srgbClr val="F0F0F0"/>
                </a:solidFill>
                <a:latin typeface="Open Sauce"/>
                <a:ea typeface="Open Sauce"/>
                <a:cs typeface="Open Sauce"/>
                <a:sym typeface="Open Sauce"/>
              </a:rPr>
              <a:t> files. This allows the application to load pre-trained models directly during runtime without retraining them every time the system starts.</a:t>
            </a:r>
          </a:p>
          <a:p>
            <a:pPr algn="l"/>
            <a:endParaRPr lang="en-US" sz="2000" spc="-32" dirty="0">
              <a:solidFill>
                <a:srgbClr val="F0F0F0"/>
              </a:solidFill>
              <a:latin typeface="Open Sauce"/>
              <a:ea typeface="Open Sauce"/>
              <a:cs typeface="Open Sauce"/>
              <a:sym typeface="Open Sauce"/>
            </a:endParaRPr>
          </a:p>
          <a:p>
            <a:pPr algn="l"/>
            <a:r>
              <a:rPr lang="en-US" sz="2000" spc="-32" dirty="0">
                <a:solidFill>
                  <a:srgbClr val="F0F0F0"/>
                </a:solidFill>
                <a:latin typeface="Open Sauce"/>
                <a:ea typeface="Open Sauce"/>
                <a:cs typeface="Open Sauce"/>
                <a:sym typeface="Open Sauce"/>
              </a:rPr>
              <a:t>Model persistence significantly reduces startup time, improves deployment efficiency, and enables seamless integration with the Flask web application.</a:t>
            </a:r>
          </a:p>
        </p:txBody>
      </p:sp>
      <p:graphicFrame>
        <p:nvGraphicFramePr>
          <p:cNvPr id="10" name="Table 9">
            <a:extLst>
              <a:ext uri="{FF2B5EF4-FFF2-40B4-BE49-F238E27FC236}">
                <a16:creationId xmlns:a16="http://schemas.microsoft.com/office/drawing/2014/main" id="{4C76439B-641C-6447-1768-F851DF0BB614}"/>
              </a:ext>
            </a:extLst>
          </p:cNvPr>
          <p:cNvGraphicFramePr>
            <a:graphicFrameLocks noGrp="1"/>
          </p:cNvGraphicFramePr>
          <p:nvPr>
            <p:extLst>
              <p:ext uri="{D42A27DB-BD31-4B8C-83A1-F6EECF244321}">
                <p14:modId xmlns:p14="http://schemas.microsoft.com/office/powerpoint/2010/main" val="3429052131"/>
              </p:ext>
            </p:extLst>
          </p:nvPr>
        </p:nvGraphicFramePr>
        <p:xfrm>
          <a:off x="7924800" y="2095500"/>
          <a:ext cx="9334499" cy="3995046"/>
        </p:xfrm>
        <a:graphic>
          <a:graphicData uri="http://schemas.openxmlformats.org/drawingml/2006/table">
            <a:tbl>
              <a:tblPr/>
              <a:tblGrid>
                <a:gridCol w="3215455">
                  <a:extLst>
                    <a:ext uri="{9D8B030D-6E8A-4147-A177-3AD203B41FA5}">
                      <a16:colId xmlns:a16="http://schemas.microsoft.com/office/drawing/2014/main" val="570108161"/>
                    </a:ext>
                  </a:extLst>
                </a:gridCol>
                <a:gridCol w="6119044">
                  <a:extLst>
                    <a:ext uri="{9D8B030D-6E8A-4147-A177-3AD203B41FA5}">
                      <a16:colId xmlns:a16="http://schemas.microsoft.com/office/drawing/2014/main" val="4158235066"/>
                    </a:ext>
                  </a:extLst>
                </a:gridCol>
              </a:tblGrid>
              <a:tr h="522028">
                <a:tc>
                  <a:txBody>
                    <a:bodyPr/>
                    <a:lstStyle/>
                    <a:p>
                      <a:r>
                        <a:rPr lang="en-IN" sz="2400" b="1" dirty="0">
                          <a:solidFill>
                            <a:schemeClr val="bg1"/>
                          </a:solidFill>
                          <a:latin typeface="Open Sauce" panose="020B0604020202020204" charset="0"/>
                        </a:rPr>
                        <a:t>File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a:solidFill>
                            <a:schemeClr val="bg1"/>
                          </a:solidFill>
                          <a:latin typeface="Open Sauce" panose="020B0604020202020204" charset="0"/>
                        </a:rPr>
                        <a:t>Purpose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9794898"/>
                  </a:ext>
                </a:extLst>
              </a:tr>
              <a:tr h="913549">
                <a:tc>
                  <a:txBody>
                    <a:bodyPr/>
                    <a:lstStyle/>
                    <a:p>
                      <a:r>
                        <a:rPr lang="en-IN" sz="2400" b="1" dirty="0">
                          <a:solidFill>
                            <a:schemeClr val="bg1"/>
                          </a:solidFill>
                          <a:latin typeface="Open Sauce" panose="020B0604020202020204" charset="0"/>
                        </a:rPr>
                        <a:t>spam_model.pkl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bg1"/>
                          </a:solidFill>
                          <a:latin typeface="Open Sauce" panose="020B0604020202020204" charset="0"/>
                        </a:rPr>
                        <a:t>Trained Logistic Regression model for spam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65202174"/>
                  </a:ext>
                </a:extLst>
              </a:tr>
              <a:tr h="913549">
                <a:tc>
                  <a:txBody>
                    <a:bodyPr/>
                    <a:lstStyle/>
                    <a:p>
                      <a:r>
                        <a:rPr lang="en-IN" sz="2400" b="1" dirty="0" err="1">
                          <a:solidFill>
                            <a:schemeClr val="bg1"/>
                          </a:solidFill>
                          <a:latin typeface="Open Sauce" panose="020B0604020202020204" charset="0"/>
                        </a:rPr>
                        <a:t>phishing_model.pkl</a:t>
                      </a:r>
                      <a:endParaRPr lang="en-IN" sz="2400" b="1" dirty="0">
                        <a:solidFill>
                          <a:schemeClr val="bg1"/>
                        </a:solidFill>
                        <a:latin typeface="Open Sauce" panose="020B0604020202020204"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bg1"/>
                          </a:solidFill>
                          <a:latin typeface="Open Sauce" panose="020B0604020202020204" charset="0"/>
                        </a:rPr>
                        <a:t>Trained Logistic Regression model for phishing detection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2948795"/>
                  </a:ext>
                </a:extLst>
              </a:tr>
              <a:tr h="522028">
                <a:tc>
                  <a:txBody>
                    <a:bodyPr/>
                    <a:lstStyle/>
                    <a:p>
                      <a:r>
                        <a:rPr lang="en-IN" sz="2400" b="1">
                          <a:solidFill>
                            <a:schemeClr val="bg1"/>
                          </a:solidFill>
                          <a:latin typeface="Open Sauce" panose="020B0604020202020204" charset="0"/>
                        </a:rPr>
                        <a:t>vectorizer.pkl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bg1"/>
                          </a:solidFill>
                          <a:latin typeface="Open Sauce" panose="020B0604020202020204" charset="0"/>
                        </a:rPr>
                        <a:t>TF-IDF vectorizer used for spam emails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5907097"/>
                  </a:ext>
                </a:extLst>
              </a:tr>
              <a:tr h="522028">
                <a:tc>
                  <a:txBody>
                    <a:bodyPr/>
                    <a:lstStyle/>
                    <a:p>
                      <a:r>
                        <a:rPr lang="en-IN" sz="2400" b="1">
                          <a:solidFill>
                            <a:schemeClr val="bg1"/>
                          </a:solidFill>
                          <a:latin typeface="Open Sauce" panose="020B0604020202020204" charset="0"/>
                        </a:rPr>
                        <a:t>phishing_vectorizer.pkl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400" b="1" dirty="0">
                          <a:solidFill>
                            <a:schemeClr val="bg1"/>
                          </a:solidFill>
                          <a:latin typeface="Open Sauce" panose="020B0604020202020204" charset="0"/>
                        </a:rPr>
                        <a:t>TF-IDF vectorizer used for phishing emails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20396310"/>
                  </a:ext>
                </a:extLst>
              </a:tr>
            </a:tbl>
          </a:graphicData>
        </a:graphic>
      </p:graphicFrame>
      <p:pic>
        <p:nvPicPr>
          <p:cNvPr id="12" name="Picture 11">
            <a:extLst>
              <a:ext uri="{FF2B5EF4-FFF2-40B4-BE49-F238E27FC236}">
                <a16:creationId xmlns:a16="http://schemas.microsoft.com/office/drawing/2014/main" id="{C4FD451D-4A34-60E5-D0AA-A1246ADEAE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1879" y="6438900"/>
            <a:ext cx="5817420" cy="285856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4AAD"/>
        </a:solidFill>
        <a:effectLst/>
      </p:bgPr>
    </p:bg>
    <p:spTree>
      <p:nvGrpSpPr>
        <p:cNvPr id="1" name=""/>
        <p:cNvGrpSpPr/>
        <p:nvPr/>
      </p:nvGrpSpPr>
      <p:grpSpPr>
        <a:xfrm>
          <a:off x="0" y="0"/>
          <a:ext cx="0" cy="0"/>
          <a:chOff x="0" y="0"/>
          <a:chExt cx="0" cy="0"/>
        </a:xfrm>
      </p:grpSpPr>
      <p:sp>
        <p:nvSpPr>
          <p:cNvPr id="8" name="TextBox 8"/>
          <p:cNvSpPr txBox="1"/>
          <p:nvPr/>
        </p:nvSpPr>
        <p:spPr>
          <a:xfrm>
            <a:off x="1295400" y="1485900"/>
            <a:ext cx="16072382" cy="1802569"/>
          </a:xfrm>
          <a:prstGeom prst="rect">
            <a:avLst/>
          </a:prstGeom>
        </p:spPr>
        <p:txBody>
          <a:bodyPr lIns="0" tIns="0" rIns="0" bIns="0" rtlCol="0" anchor="t">
            <a:spAutoFit/>
          </a:bodyPr>
          <a:lstStyle/>
          <a:p>
            <a:pPr marL="0" lvl="0" indent="0" algn="l">
              <a:lnSpc>
                <a:spcPts val="13425"/>
              </a:lnSpc>
              <a:spcBef>
                <a:spcPct val="0"/>
              </a:spcBef>
            </a:pPr>
            <a:r>
              <a:rPr lang="en-US" sz="13840" spc="-276" dirty="0">
                <a:solidFill>
                  <a:srgbClr val="F0F0F0"/>
                </a:solidFill>
                <a:latin typeface="Anton"/>
                <a:ea typeface="Anton"/>
                <a:cs typeface="Anton"/>
                <a:sym typeface="Anton"/>
              </a:rPr>
              <a:t>RESULTS &amp; FU</a:t>
            </a:r>
            <a:r>
              <a:rPr lang="en-US" sz="13840" u="none" strike="noStrike" spc="-276" dirty="0">
                <a:solidFill>
                  <a:srgbClr val="F0F0F0"/>
                </a:solidFill>
                <a:latin typeface="Anton"/>
                <a:ea typeface="Anton"/>
                <a:cs typeface="Anton"/>
                <a:sym typeface="Anton"/>
              </a:rPr>
              <a:t>TURE SCOPE</a:t>
            </a:r>
          </a:p>
        </p:txBody>
      </p:sp>
      <p:graphicFrame>
        <p:nvGraphicFramePr>
          <p:cNvPr id="13" name="Table 12">
            <a:extLst>
              <a:ext uri="{FF2B5EF4-FFF2-40B4-BE49-F238E27FC236}">
                <a16:creationId xmlns:a16="http://schemas.microsoft.com/office/drawing/2014/main" id="{4ECE0955-4C4D-2075-99F5-C71590B4E750}"/>
              </a:ext>
            </a:extLst>
          </p:cNvPr>
          <p:cNvGraphicFramePr>
            <a:graphicFrameLocks noGrp="1"/>
          </p:cNvGraphicFramePr>
          <p:nvPr>
            <p:extLst>
              <p:ext uri="{D42A27DB-BD31-4B8C-83A1-F6EECF244321}">
                <p14:modId xmlns:p14="http://schemas.microsoft.com/office/powerpoint/2010/main" val="2712070209"/>
              </p:ext>
            </p:extLst>
          </p:nvPr>
        </p:nvGraphicFramePr>
        <p:xfrm>
          <a:off x="2473591" y="4229100"/>
          <a:ext cx="13182600" cy="2490616"/>
        </p:xfrm>
        <a:graphic>
          <a:graphicData uri="http://schemas.openxmlformats.org/drawingml/2006/table">
            <a:tbl>
              <a:tblPr/>
              <a:tblGrid>
                <a:gridCol w="6591300">
                  <a:extLst>
                    <a:ext uri="{9D8B030D-6E8A-4147-A177-3AD203B41FA5}">
                      <a16:colId xmlns:a16="http://schemas.microsoft.com/office/drawing/2014/main" val="2168867861"/>
                    </a:ext>
                  </a:extLst>
                </a:gridCol>
                <a:gridCol w="6591300">
                  <a:extLst>
                    <a:ext uri="{9D8B030D-6E8A-4147-A177-3AD203B41FA5}">
                      <a16:colId xmlns:a16="http://schemas.microsoft.com/office/drawing/2014/main" val="519417843"/>
                    </a:ext>
                  </a:extLst>
                </a:gridCol>
              </a:tblGrid>
              <a:tr h="600856">
                <a:tc>
                  <a:txBody>
                    <a:bodyPr/>
                    <a:lstStyle/>
                    <a:p>
                      <a:r>
                        <a:rPr lang="en-IN" sz="2800" dirty="0">
                          <a:solidFill>
                            <a:schemeClr val="bg1"/>
                          </a:solidFill>
                          <a:latin typeface="Open Sauce" panose="020B0604020202020204" charset="0"/>
                        </a:rPr>
                        <a:t>Current Achievement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800">
                          <a:solidFill>
                            <a:schemeClr val="bg1"/>
                          </a:solidFill>
                          <a:latin typeface="Open Sauce" panose="020B0604020202020204" charset="0"/>
                        </a:rPr>
                        <a:t>Future Enhancement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8024040"/>
                  </a:ext>
                </a:extLst>
              </a:tr>
              <a:tr h="600856">
                <a:tc>
                  <a:txBody>
                    <a:bodyPr/>
                    <a:lstStyle/>
                    <a:p>
                      <a:r>
                        <a:rPr lang="en-US" sz="2800" dirty="0">
                          <a:solidFill>
                            <a:schemeClr val="bg1"/>
                          </a:solidFill>
                          <a:latin typeface="Open Sauce" panose="020B0604020202020204" charset="0"/>
                        </a:rPr>
                        <a:t>Spam &amp; Phishing Detection using Logistic Regression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800" dirty="0">
                          <a:solidFill>
                            <a:schemeClr val="bg1"/>
                          </a:solidFill>
                          <a:latin typeface="Open Sauce" panose="020B0604020202020204" charset="0"/>
                        </a:rPr>
                        <a:t>Malware Detection using AI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861701"/>
                  </a:ext>
                </a:extLst>
              </a:tr>
              <a:tr h="611849">
                <a:tc>
                  <a:txBody>
                    <a:bodyPr/>
                    <a:lstStyle/>
                    <a:p>
                      <a:r>
                        <a:rPr lang="en-US" sz="2800" dirty="0">
                          <a:solidFill>
                            <a:schemeClr val="bg1"/>
                          </a:solidFill>
                          <a:latin typeface="Open Sauce" panose="020B0604020202020204" charset="0"/>
                        </a:rPr>
                        <a:t>Real-Time Threat Analysis through Flask Application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800" dirty="0">
                          <a:solidFill>
                            <a:schemeClr val="bg1"/>
                          </a:solidFill>
                          <a:latin typeface="Open Sauce" panose="020B0604020202020204" charset="0"/>
                        </a:rPr>
                        <a:t>Enterprise Security Dashboard with Threat Intelligence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185907"/>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9" name="TextBox 9"/>
          <p:cNvSpPr txBox="1"/>
          <p:nvPr/>
        </p:nvSpPr>
        <p:spPr>
          <a:xfrm>
            <a:off x="685800" y="1080735"/>
            <a:ext cx="7688532" cy="4688078"/>
          </a:xfrm>
          <a:prstGeom prst="rect">
            <a:avLst/>
          </a:prstGeom>
        </p:spPr>
        <p:txBody>
          <a:bodyPr wrap="square" lIns="0" tIns="0" rIns="0" bIns="0" rtlCol="0" anchor="t">
            <a:spAutoFit/>
          </a:bodyPr>
          <a:lstStyle/>
          <a:p>
            <a:pPr marL="0" lvl="0" indent="0" algn="l">
              <a:lnSpc>
                <a:spcPts val="18052"/>
              </a:lnSpc>
              <a:spcBef>
                <a:spcPct val="0"/>
              </a:spcBef>
            </a:pPr>
            <a:r>
              <a:rPr lang="en-US" sz="18611" spc="-372" dirty="0">
                <a:solidFill>
                  <a:srgbClr val="004AAD"/>
                </a:solidFill>
                <a:latin typeface="Anton"/>
                <a:ea typeface="Anton"/>
                <a:cs typeface="Anton"/>
                <a:sym typeface="Anton"/>
              </a:rPr>
              <a:t>THANK YOU</a:t>
            </a:r>
          </a:p>
        </p:txBody>
      </p:sp>
      <p:sp>
        <p:nvSpPr>
          <p:cNvPr id="10" name="TextBox 10"/>
          <p:cNvSpPr txBox="1"/>
          <p:nvPr/>
        </p:nvSpPr>
        <p:spPr>
          <a:xfrm>
            <a:off x="8254188" y="4413613"/>
            <a:ext cx="1453652" cy="238125"/>
          </a:xfrm>
          <a:prstGeom prst="rect">
            <a:avLst/>
          </a:prstGeom>
        </p:spPr>
        <p:txBody>
          <a:bodyPr lIns="0" tIns="0" rIns="0" bIns="0" rtlCol="0" anchor="t">
            <a:spAutoFit/>
          </a:bodyPr>
          <a:lstStyle/>
          <a:p>
            <a:pPr algn="l">
              <a:lnSpc>
                <a:spcPts val="1920"/>
              </a:lnSpc>
            </a:pPr>
            <a:r>
              <a:rPr lang="en-US" sz="1600" b="1" spc="-80">
                <a:solidFill>
                  <a:srgbClr val="004AAD"/>
                </a:solidFill>
                <a:latin typeface="Open Sauce Bold"/>
                <a:ea typeface="Open Sauce Bold"/>
                <a:cs typeface="Open Sauce Bold"/>
                <a:sym typeface="Open Sauce Bold"/>
              </a:rPr>
              <a:t>Liceria &amp; Co.</a:t>
            </a:r>
          </a:p>
        </p:txBody>
      </p:sp>
      <p:sp>
        <p:nvSpPr>
          <p:cNvPr id="14" name="TextBox 14"/>
          <p:cNvSpPr txBox="1"/>
          <p:nvPr/>
        </p:nvSpPr>
        <p:spPr>
          <a:xfrm>
            <a:off x="14419479" y="8566500"/>
            <a:ext cx="2803322" cy="243656"/>
          </a:xfrm>
          <a:prstGeom prst="rect">
            <a:avLst/>
          </a:prstGeom>
        </p:spPr>
        <p:txBody>
          <a:bodyPr wrap="square" lIns="0" tIns="0" rIns="0" bIns="0" rtlCol="0" anchor="t">
            <a:spAutoFit/>
          </a:bodyPr>
          <a:lstStyle/>
          <a:p>
            <a:pPr marL="0" lvl="0" indent="0" algn="r">
              <a:lnSpc>
                <a:spcPts val="1920"/>
              </a:lnSpc>
              <a:spcBef>
                <a:spcPct val="0"/>
              </a:spcBef>
            </a:pPr>
            <a:r>
              <a:rPr lang="en-US" sz="2000" u="none" strike="noStrike" spc="-32" dirty="0">
                <a:solidFill>
                  <a:srgbClr val="004AAD"/>
                </a:solidFill>
                <a:latin typeface="Open Sauce"/>
                <a:ea typeface="Open Sauce"/>
                <a:cs typeface="Open Sauce"/>
                <a:sym typeface="Open Sauce"/>
              </a:rPr>
              <a:t>9337566648</a:t>
            </a:r>
          </a:p>
        </p:txBody>
      </p:sp>
      <p:sp>
        <p:nvSpPr>
          <p:cNvPr id="15" name="TextBox 15">
            <a:hlinkClick r:id="rId3"/>
          </p:cNvPr>
          <p:cNvSpPr txBox="1"/>
          <p:nvPr/>
        </p:nvSpPr>
        <p:spPr>
          <a:xfrm>
            <a:off x="2725080" y="5423582"/>
            <a:ext cx="3609972" cy="253531"/>
          </a:xfrm>
          <a:prstGeom prst="rect">
            <a:avLst/>
          </a:prstGeom>
        </p:spPr>
        <p:txBody>
          <a:bodyPr wrap="square" lIns="0" tIns="0" rIns="0" bIns="0" rtlCol="0" anchor="t">
            <a:spAutoFit/>
          </a:bodyPr>
          <a:lstStyle/>
          <a:p>
            <a:pPr marL="0" lvl="0" indent="0" algn="r">
              <a:lnSpc>
                <a:spcPts val="1920"/>
              </a:lnSpc>
              <a:spcBef>
                <a:spcPct val="0"/>
              </a:spcBef>
            </a:pPr>
            <a:r>
              <a:rPr lang="en-US" sz="2400" u="none" strike="noStrike" spc="-32" dirty="0">
                <a:solidFill>
                  <a:srgbClr val="004AAD"/>
                </a:solidFill>
                <a:latin typeface="Open Sauce"/>
                <a:ea typeface="Open Sauce"/>
                <a:cs typeface="Open Sauce"/>
                <a:sym typeface="Open Sauce"/>
              </a:rPr>
              <a:t>DEMO LINK</a:t>
            </a:r>
          </a:p>
        </p:txBody>
      </p:sp>
      <p:sp>
        <p:nvSpPr>
          <p:cNvPr id="16" name="TextBox 16"/>
          <p:cNvSpPr txBox="1"/>
          <p:nvPr/>
        </p:nvSpPr>
        <p:spPr>
          <a:xfrm>
            <a:off x="13413596" y="8907283"/>
            <a:ext cx="3829083" cy="243656"/>
          </a:xfrm>
          <a:prstGeom prst="rect">
            <a:avLst/>
          </a:prstGeom>
        </p:spPr>
        <p:txBody>
          <a:bodyPr wrap="square" lIns="0" tIns="0" rIns="0" bIns="0" rtlCol="0" anchor="t">
            <a:spAutoFit/>
          </a:bodyPr>
          <a:lstStyle/>
          <a:p>
            <a:pPr marL="0" lvl="0" indent="0" algn="r">
              <a:lnSpc>
                <a:spcPts val="1920"/>
              </a:lnSpc>
              <a:spcBef>
                <a:spcPct val="0"/>
              </a:spcBef>
            </a:pPr>
            <a:r>
              <a:rPr lang="en-US" sz="2000" u="none" strike="noStrike" spc="-32" dirty="0">
                <a:solidFill>
                  <a:srgbClr val="004AAD"/>
                </a:solidFill>
                <a:latin typeface="Open Sauce"/>
                <a:ea typeface="Open Sauce"/>
                <a:cs typeface="Open Sauce"/>
                <a:sym typeface="Open Sauce"/>
              </a:rPr>
              <a:t>satyapt001@gmail.com</a:t>
            </a:r>
          </a:p>
        </p:txBody>
      </p:sp>
      <p:pic>
        <p:nvPicPr>
          <p:cNvPr id="20" name="Picture 19">
            <a:extLst>
              <a:ext uri="{FF2B5EF4-FFF2-40B4-BE49-F238E27FC236}">
                <a16:creationId xmlns:a16="http://schemas.microsoft.com/office/drawing/2014/main" id="{4483749E-2817-1FDA-E449-E0B914C5D6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56949" y="800100"/>
            <a:ext cx="11045251" cy="6129868"/>
          </a:xfrm>
          <a:prstGeom prst="rect">
            <a:avLst/>
          </a:prstGeom>
          <a:ln w="28575">
            <a:solidFill>
              <a:schemeClr val="bg1"/>
            </a:solidFill>
          </a:ln>
        </p:spPr>
      </p:pic>
      <p:pic>
        <p:nvPicPr>
          <p:cNvPr id="18" name="Picture 17">
            <a:extLst>
              <a:ext uri="{FF2B5EF4-FFF2-40B4-BE49-F238E27FC236}">
                <a16:creationId xmlns:a16="http://schemas.microsoft.com/office/drawing/2014/main" id="{9F894107-2D07-CAF4-89DF-EACDFF83A42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6306" y="5838943"/>
            <a:ext cx="6364601" cy="3647957"/>
          </a:xfrm>
          <a:prstGeom prst="rect">
            <a:avLst/>
          </a:prstGeom>
          <a:ln>
            <a:solidFill>
              <a:schemeClr val="bg1"/>
            </a:solidFill>
          </a:ln>
        </p:spPr>
      </p:pic>
      <p:pic>
        <p:nvPicPr>
          <p:cNvPr id="2" name="Picture 1">
            <a:extLst>
              <a:ext uri="{FF2B5EF4-FFF2-40B4-BE49-F238E27FC236}">
                <a16:creationId xmlns:a16="http://schemas.microsoft.com/office/drawing/2014/main" id="{B0EFFC56-6C84-15D8-A4A2-8097533104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4743300" y="7662921"/>
            <a:ext cx="2499379" cy="697195"/>
          </a:xfrm>
          <a:prstGeom prst="rect">
            <a:avLst/>
          </a:prstGeom>
        </p:spPr>
      </p:pic>
      <p:sp>
        <p:nvSpPr>
          <p:cNvPr id="4" name="TextBox 3">
            <a:extLst>
              <a:ext uri="{FF2B5EF4-FFF2-40B4-BE49-F238E27FC236}">
                <a16:creationId xmlns:a16="http://schemas.microsoft.com/office/drawing/2014/main" id="{B5110B17-0BEE-76F3-3CB6-69F8339021A4}"/>
              </a:ext>
            </a:extLst>
          </p:cNvPr>
          <p:cNvSpPr txBox="1"/>
          <p:nvPr/>
        </p:nvSpPr>
        <p:spPr>
          <a:xfrm>
            <a:off x="7785652" y="9182100"/>
            <a:ext cx="9511748" cy="335989"/>
          </a:xfrm>
          <a:prstGeom prst="rect">
            <a:avLst/>
          </a:prstGeom>
          <a:noFill/>
        </p:spPr>
        <p:txBody>
          <a:bodyPr wrap="square">
            <a:spAutoFit/>
          </a:bodyPr>
          <a:lstStyle/>
          <a:p>
            <a:pPr marL="0" lvl="0" indent="0" algn="r">
              <a:lnSpc>
                <a:spcPts val="1920"/>
              </a:lnSpc>
              <a:spcBef>
                <a:spcPct val="0"/>
              </a:spcBef>
            </a:pPr>
            <a:r>
              <a:rPr lang="en-US" sz="1800" u="none" strike="noStrike" spc="-32" dirty="0">
                <a:solidFill>
                  <a:srgbClr val="004AAD"/>
                </a:solidFill>
                <a:latin typeface="Open Sauce"/>
                <a:ea typeface="Open Sauce"/>
                <a:cs typeface="Open Sauce"/>
                <a:sym typeface="Open Sauce"/>
                <a:hlinkClick r:id="rId7"/>
              </a:rPr>
              <a:t>GitHub</a:t>
            </a:r>
            <a:endParaRPr lang="en-US" sz="1800" u="none" strike="noStrike" spc="-32" dirty="0">
              <a:solidFill>
                <a:srgbClr val="004AAD"/>
              </a:solidFill>
              <a:latin typeface="Open Sauce"/>
              <a:ea typeface="Open Sauce"/>
              <a:cs typeface="Open Sauce"/>
              <a:sym typeface="Open Sauc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375</TotalTime>
  <Words>817</Words>
  <Application>Microsoft Office PowerPoint</Application>
  <PresentationFormat>Custom</PresentationFormat>
  <Paragraphs>115</Paragraphs>
  <Slides>11</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11</vt:i4>
      </vt:variant>
    </vt:vector>
  </HeadingPairs>
  <TitlesOfParts>
    <vt:vector size="21" baseType="lpstr">
      <vt:lpstr>Anton</vt:lpstr>
      <vt:lpstr>Calibri</vt:lpstr>
      <vt:lpstr>Arial</vt:lpstr>
      <vt:lpstr>Anton Italics</vt:lpstr>
      <vt:lpstr>Open Sauce</vt:lpstr>
      <vt:lpstr>Open Sauce </vt:lpstr>
      <vt:lpstr>Open Sauce Bold Italics</vt:lpstr>
      <vt:lpstr>Open Sauce Italics</vt:lpstr>
      <vt:lpstr>Open Sauce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Monochrome Modern Smart Factories Presentation</dc:title>
  <cp:lastModifiedBy>satyapriya</cp:lastModifiedBy>
  <cp:revision>5</cp:revision>
  <dcterms:created xsi:type="dcterms:W3CDTF">2006-08-16T00:00:00Z</dcterms:created>
  <dcterms:modified xsi:type="dcterms:W3CDTF">2026-06-21T09:05:45Z</dcterms:modified>
  <dc:identifier>DAHNHpgKOxI</dc:identifier>
</cp:coreProperties>
</file>